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Observaciones</c:v>
                </c:pt>
              </c:strCache>
            </c:strRef>
          </c:tx>
          <c:spPr>
            <a:ln w="47625">
              <a:noFill/>
            </a:ln>
          </c:spPr>
          <c:marker>
            <c:symbol val="circle"/>
            <c:size val="5"/>
            <c:spPr>
              <a:solidFill>
                <a:srgbClr val="2E6F9E"/>
              </a:solidFill>
              <a:ln>
                <a:noFill/>
              </a:ln>
            </c:spPr>
          </c:marker>
          <c:xVal>
            <c:numRef>
              <c:f>Sheet1!$A$2:$A$201</c:f>
              <c:numCache>
                <c:formatCode>General</c:formatCode>
                <c:ptCount val="200"/>
                <c:pt idx="0">
                  <c:v>230.1</c:v>
                </c:pt>
                <c:pt idx="1">
                  <c:v>44.5</c:v>
                </c:pt>
                <c:pt idx="2">
                  <c:v>17.2</c:v>
                </c:pt>
                <c:pt idx="3">
                  <c:v>151.5</c:v>
                </c:pt>
                <c:pt idx="4">
                  <c:v>180.8</c:v>
                </c:pt>
                <c:pt idx="5">
                  <c:v>8.7</c:v>
                </c:pt>
                <c:pt idx="6">
                  <c:v>57.5</c:v>
                </c:pt>
                <c:pt idx="7">
                  <c:v>120.2</c:v>
                </c:pt>
                <c:pt idx="8">
                  <c:v>8.6</c:v>
                </c:pt>
                <c:pt idx="9">
                  <c:v>199.8</c:v>
                </c:pt>
                <c:pt idx="10">
                  <c:v>66.1</c:v>
                </c:pt>
                <c:pt idx="11">
                  <c:v>214.7</c:v>
                </c:pt>
                <c:pt idx="12">
                  <c:v>23.8</c:v>
                </c:pt>
                <c:pt idx="13">
                  <c:v>97.5</c:v>
                </c:pt>
                <c:pt idx="14">
                  <c:v>204.1</c:v>
                </c:pt>
                <c:pt idx="15">
                  <c:v>195.4</c:v>
                </c:pt>
                <c:pt idx="16">
                  <c:v>67.8</c:v>
                </c:pt>
                <c:pt idx="17">
                  <c:v>281.4</c:v>
                </c:pt>
                <c:pt idx="18">
                  <c:v>69.2</c:v>
                </c:pt>
                <c:pt idx="19">
                  <c:v>147.3</c:v>
                </c:pt>
                <c:pt idx="20">
                  <c:v>218.4</c:v>
                </c:pt>
                <c:pt idx="21">
                  <c:v>237.4</c:v>
                </c:pt>
                <c:pt idx="22">
                  <c:v>13.2</c:v>
                </c:pt>
                <c:pt idx="23">
                  <c:v>228.3</c:v>
                </c:pt>
                <c:pt idx="24">
                  <c:v>62.3</c:v>
                </c:pt>
                <c:pt idx="25">
                  <c:v>262.9</c:v>
                </c:pt>
                <c:pt idx="26">
                  <c:v>142.9</c:v>
                </c:pt>
                <c:pt idx="27">
                  <c:v>240.1</c:v>
                </c:pt>
                <c:pt idx="28">
                  <c:v>248.8</c:v>
                </c:pt>
                <c:pt idx="29">
                  <c:v>70.6</c:v>
                </c:pt>
                <c:pt idx="30">
                  <c:v>292.9</c:v>
                </c:pt>
                <c:pt idx="31">
                  <c:v>112.9</c:v>
                </c:pt>
                <c:pt idx="32">
                  <c:v>97.2</c:v>
                </c:pt>
                <c:pt idx="33">
                  <c:v>265.6</c:v>
                </c:pt>
                <c:pt idx="34">
                  <c:v>95.7</c:v>
                </c:pt>
                <c:pt idx="35">
                  <c:v>290.7</c:v>
                </c:pt>
                <c:pt idx="36">
                  <c:v>266.9</c:v>
                </c:pt>
                <c:pt idx="37">
                  <c:v>74.7</c:v>
                </c:pt>
                <c:pt idx="38">
                  <c:v>43.1</c:v>
                </c:pt>
                <c:pt idx="39">
                  <c:v>228.0</c:v>
                </c:pt>
                <c:pt idx="40">
                  <c:v>202.5</c:v>
                </c:pt>
                <c:pt idx="41">
                  <c:v>177.0</c:v>
                </c:pt>
                <c:pt idx="42">
                  <c:v>293.6</c:v>
                </c:pt>
                <c:pt idx="43">
                  <c:v>206.9</c:v>
                </c:pt>
                <c:pt idx="44">
                  <c:v>25.1</c:v>
                </c:pt>
                <c:pt idx="45">
                  <c:v>175.1</c:v>
                </c:pt>
                <c:pt idx="46">
                  <c:v>89.7</c:v>
                </c:pt>
                <c:pt idx="47">
                  <c:v>239.9</c:v>
                </c:pt>
                <c:pt idx="48">
                  <c:v>227.2</c:v>
                </c:pt>
                <c:pt idx="49">
                  <c:v>66.9</c:v>
                </c:pt>
                <c:pt idx="50">
                  <c:v>199.8</c:v>
                </c:pt>
                <c:pt idx="51">
                  <c:v>100.4</c:v>
                </c:pt>
                <c:pt idx="52">
                  <c:v>216.4</c:v>
                </c:pt>
                <c:pt idx="53">
                  <c:v>182.6</c:v>
                </c:pt>
                <c:pt idx="54">
                  <c:v>262.7</c:v>
                </c:pt>
                <c:pt idx="55">
                  <c:v>198.9</c:v>
                </c:pt>
                <c:pt idx="56">
                  <c:v>7.3</c:v>
                </c:pt>
                <c:pt idx="57">
                  <c:v>136.2</c:v>
                </c:pt>
                <c:pt idx="58">
                  <c:v>210.8</c:v>
                </c:pt>
                <c:pt idx="59">
                  <c:v>210.7</c:v>
                </c:pt>
                <c:pt idx="60">
                  <c:v>53.5</c:v>
                </c:pt>
                <c:pt idx="61">
                  <c:v>261.3</c:v>
                </c:pt>
                <c:pt idx="62">
                  <c:v>239.3</c:v>
                </c:pt>
                <c:pt idx="63">
                  <c:v>102.7</c:v>
                </c:pt>
                <c:pt idx="64">
                  <c:v>131.1</c:v>
                </c:pt>
                <c:pt idx="65">
                  <c:v>69.0</c:v>
                </c:pt>
                <c:pt idx="66">
                  <c:v>31.5</c:v>
                </c:pt>
                <c:pt idx="67">
                  <c:v>139.3</c:v>
                </c:pt>
                <c:pt idx="68">
                  <c:v>237.4</c:v>
                </c:pt>
                <c:pt idx="69">
                  <c:v>216.8</c:v>
                </c:pt>
                <c:pt idx="70">
                  <c:v>199.1</c:v>
                </c:pt>
                <c:pt idx="71">
                  <c:v>109.8</c:v>
                </c:pt>
                <c:pt idx="72">
                  <c:v>26.8</c:v>
                </c:pt>
                <c:pt idx="73">
                  <c:v>129.4</c:v>
                </c:pt>
                <c:pt idx="74">
                  <c:v>213.4</c:v>
                </c:pt>
                <c:pt idx="75">
                  <c:v>16.9</c:v>
                </c:pt>
                <c:pt idx="76">
                  <c:v>27.5</c:v>
                </c:pt>
                <c:pt idx="77">
                  <c:v>120.5</c:v>
                </c:pt>
                <c:pt idx="78">
                  <c:v>5.4</c:v>
                </c:pt>
                <c:pt idx="79">
                  <c:v>116.0</c:v>
                </c:pt>
                <c:pt idx="80">
                  <c:v>76.4</c:v>
                </c:pt>
                <c:pt idx="81">
                  <c:v>239.8</c:v>
                </c:pt>
                <c:pt idx="82">
                  <c:v>75.3</c:v>
                </c:pt>
                <c:pt idx="83">
                  <c:v>68.4</c:v>
                </c:pt>
                <c:pt idx="84">
                  <c:v>213.5</c:v>
                </c:pt>
                <c:pt idx="85">
                  <c:v>193.2</c:v>
                </c:pt>
                <c:pt idx="86">
                  <c:v>76.3</c:v>
                </c:pt>
                <c:pt idx="87">
                  <c:v>110.7</c:v>
                </c:pt>
                <c:pt idx="88">
                  <c:v>88.3</c:v>
                </c:pt>
                <c:pt idx="89">
                  <c:v>109.8</c:v>
                </c:pt>
                <c:pt idx="90">
                  <c:v>134.3</c:v>
                </c:pt>
                <c:pt idx="91">
                  <c:v>28.6</c:v>
                </c:pt>
                <c:pt idx="92">
                  <c:v>217.7</c:v>
                </c:pt>
                <c:pt idx="93">
                  <c:v>250.9</c:v>
                </c:pt>
                <c:pt idx="94">
                  <c:v>107.4</c:v>
                </c:pt>
                <c:pt idx="95">
                  <c:v>163.3</c:v>
                </c:pt>
                <c:pt idx="96">
                  <c:v>197.6</c:v>
                </c:pt>
                <c:pt idx="97">
                  <c:v>184.9</c:v>
                </c:pt>
                <c:pt idx="98">
                  <c:v>289.7</c:v>
                </c:pt>
                <c:pt idx="99">
                  <c:v>135.2</c:v>
                </c:pt>
                <c:pt idx="100">
                  <c:v>222.4</c:v>
                </c:pt>
                <c:pt idx="101">
                  <c:v>296.4</c:v>
                </c:pt>
                <c:pt idx="102">
                  <c:v>280.2</c:v>
                </c:pt>
                <c:pt idx="103">
                  <c:v>187.9</c:v>
                </c:pt>
                <c:pt idx="104">
                  <c:v>238.2</c:v>
                </c:pt>
                <c:pt idx="105">
                  <c:v>137.9</c:v>
                </c:pt>
                <c:pt idx="106">
                  <c:v>25.0</c:v>
                </c:pt>
                <c:pt idx="107">
                  <c:v>90.4</c:v>
                </c:pt>
                <c:pt idx="108">
                  <c:v>13.1</c:v>
                </c:pt>
                <c:pt idx="109">
                  <c:v>255.4</c:v>
                </c:pt>
                <c:pt idx="110">
                  <c:v>225.8</c:v>
                </c:pt>
                <c:pt idx="111">
                  <c:v>241.7</c:v>
                </c:pt>
                <c:pt idx="112">
                  <c:v>175.7</c:v>
                </c:pt>
                <c:pt idx="113">
                  <c:v>209.6</c:v>
                </c:pt>
                <c:pt idx="114">
                  <c:v>78.2</c:v>
                </c:pt>
                <c:pt idx="115">
                  <c:v>75.1</c:v>
                </c:pt>
                <c:pt idx="116">
                  <c:v>139.2</c:v>
                </c:pt>
                <c:pt idx="117">
                  <c:v>76.4</c:v>
                </c:pt>
                <c:pt idx="118">
                  <c:v>125.7</c:v>
                </c:pt>
                <c:pt idx="119">
                  <c:v>19.4</c:v>
                </c:pt>
                <c:pt idx="120">
                  <c:v>141.3</c:v>
                </c:pt>
                <c:pt idx="121">
                  <c:v>18.8</c:v>
                </c:pt>
                <c:pt idx="122">
                  <c:v>224.0</c:v>
                </c:pt>
                <c:pt idx="123">
                  <c:v>123.1</c:v>
                </c:pt>
                <c:pt idx="124">
                  <c:v>229.5</c:v>
                </c:pt>
                <c:pt idx="125">
                  <c:v>87.2</c:v>
                </c:pt>
                <c:pt idx="126">
                  <c:v>7.8</c:v>
                </c:pt>
                <c:pt idx="127">
                  <c:v>80.2</c:v>
                </c:pt>
                <c:pt idx="128">
                  <c:v>220.3</c:v>
                </c:pt>
                <c:pt idx="129">
                  <c:v>59.6</c:v>
                </c:pt>
                <c:pt idx="130">
                  <c:v>0.7</c:v>
                </c:pt>
                <c:pt idx="131">
                  <c:v>265.2</c:v>
                </c:pt>
                <c:pt idx="132">
                  <c:v>8.4</c:v>
                </c:pt>
                <c:pt idx="133">
                  <c:v>219.8</c:v>
                </c:pt>
                <c:pt idx="134">
                  <c:v>36.9</c:v>
                </c:pt>
                <c:pt idx="135">
                  <c:v>48.3</c:v>
                </c:pt>
                <c:pt idx="136">
                  <c:v>25.6</c:v>
                </c:pt>
                <c:pt idx="137">
                  <c:v>273.7</c:v>
                </c:pt>
                <c:pt idx="138">
                  <c:v>43.0</c:v>
                </c:pt>
                <c:pt idx="139">
                  <c:v>184.9</c:v>
                </c:pt>
                <c:pt idx="140">
                  <c:v>73.4</c:v>
                </c:pt>
                <c:pt idx="141">
                  <c:v>193.7</c:v>
                </c:pt>
                <c:pt idx="142">
                  <c:v>220.5</c:v>
                </c:pt>
                <c:pt idx="143">
                  <c:v>104.6</c:v>
                </c:pt>
                <c:pt idx="144">
                  <c:v>96.2</c:v>
                </c:pt>
                <c:pt idx="145">
                  <c:v>140.3</c:v>
                </c:pt>
                <c:pt idx="146">
                  <c:v>240.1</c:v>
                </c:pt>
                <c:pt idx="147">
                  <c:v>243.2</c:v>
                </c:pt>
                <c:pt idx="148">
                  <c:v>38.0</c:v>
                </c:pt>
                <c:pt idx="149">
                  <c:v>44.7</c:v>
                </c:pt>
                <c:pt idx="150">
                  <c:v>280.7</c:v>
                </c:pt>
                <c:pt idx="151">
                  <c:v>121.0</c:v>
                </c:pt>
                <c:pt idx="152">
                  <c:v>197.6</c:v>
                </c:pt>
                <c:pt idx="153">
                  <c:v>171.3</c:v>
                </c:pt>
                <c:pt idx="154">
                  <c:v>187.8</c:v>
                </c:pt>
                <c:pt idx="155">
                  <c:v>4.1</c:v>
                </c:pt>
                <c:pt idx="156">
                  <c:v>93.9</c:v>
                </c:pt>
                <c:pt idx="157">
                  <c:v>149.8</c:v>
                </c:pt>
                <c:pt idx="158">
                  <c:v>11.7</c:v>
                </c:pt>
                <c:pt idx="159">
                  <c:v>131.7</c:v>
                </c:pt>
                <c:pt idx="160">
                  <c:v>172.5</c:v>
                </c:pt>
                <c:pt idx="161">
                  <c:v>85.7</c:v>
                </c:pt>
                <c:pt idx="162">
                  <c:v>188.4</c:v>
                </c:pt>
                <c:pt idx="163">
                  <c:v>163.5</c:v>
                </c:pt>
                <c:pt idx="164">
                  <c:v>117.2</c:v>
                </c:pt>
                <c:pt idx="165">
                  <c:v>234.5</c:v>
                </c:pt>
                <c:pt idx="166">
                  <c:v>17.9</c:v>
                </c:pt>
                <c:pt idx="167">
                  <c:v>206.8</c:v>
                </c:pt>
                <c:pt idx="168">
                  <c:v>215.4</c:v>
                </c:pt>
                <c:pt idx="169">
                  <c:v>284.3</c:v>
                </c:pt>
                <c:pt idx="170">
                  <c:v>50.0</c:v>
                </c:pt>
                <c:pt idx="171">
                  <c:v>164.5</c:v>
                </c:pt>
                <c:pt idx="172">
                  <c:v>19.6</c:v>
                </c:pt>
                <c:pt idx="173">
                  <c:v>168.4</c:v>
                </c:pt>
                <c:pt idx="174">
                  <c:v>222.4</c:v>
                </c:pt>
                <c:pt idx="175">
                  <c:v>276.9</c:v>
                </c:pt>
                <c:pt idx="176">
                  <c:v>248.4</c:v>
                </c:pt>
                <c:pt idx="177">
                  <c:v>170.2</c:v>
                </c:pt>
                <c:pt idx="178">
                  <c:v>276.7</c:v>
                </c:pt>
                <c:pt idx="179">
                  <c:v>165.6</c:v>
                </c:pt>
                <c:pt idx="180">
                  <c:v>156.6</c:v>
                </c:pt>
                <c:pt idx="181">
                  <c:v>218.5</c:v>
                </c:pt>
                <c:pt idx="182">
                  <c:v>56.2</c:v>
                </c:pt>
                <c:pt idx="183">
                  <c:v>287.6</c:v>
                </c:pt>
                <c:pt idx="184">
                  <c:v>253.8</c:v>
                </c:pt>
                <c:pt idx="185">
                  <c:v>205.0</c:v>
                </c:pt>
                <c:pt idx="186">
                  <c:v>139.5</c:v>
                </c:pt>
                <c:pt idx="187">
                  <c:v>191.1</c:v>
                </c:pt>
                <c:pt idx="188">
                  <c:v>286.0</c:v>
                </c:pt>
                <c:pt idx="189">
                  <c:v>18.7</c:v>
                </c:pt>
                <c:pt idx="190">
                  <c:v>39.5</c:v>
                </c:pt>
                <c:pt idx="191">
                  <c:v>75.5</c:v>
                </c:pt>
                <c:pt idx="192">
                  <c:v>17.2</c:v>
                </c:pt>
                <c:pt idx="193">
                  <c:v>166.8</c:v>
                </c:pt>
                <c:pt idx="194">
                  <c:v>149.7</c:v>
                </c:pt>
                <c:pt idx="195">
                  <c:v>38.2</c:v>
                </c:pt>
                <c:pt idx="196">
                  <c:v>94.2</c:v>
                </c:pt>
                <c:pt idx="197">
                  <c:v>177.0</c:v>
                </c:pt>
                <c:pt idx="198">
                  <c:v>283.6</c:v>
                </c:pt>
                <c:pt idx="199">
                  <c:v>232.1</c:v>
                </c:pt>
              </c:numCache>
            </c:numRef>
          </c:xVal>
          <c:yVal>
            <c:numRef>
              <c:f>Sheet1!$B$2:$B$201</c:f>
              <c:numCache>
                <c:formatCode>General</c:formatCode>
                <c:ptCount val="200"/>
                <c:pt idx="0">
                  <c:v>22.1</c:v>
                </c:pt>
                <c:pt idx="1">
                  <c:v>10.4</c:v>
                </c:pt>
                <c:pt idx="2">
                  <c:v>9.3</c:v>
                </c:pt>
                <c:pt idx="3">
                  <c:v>18.5</c:v>
                </c:pt>
                <c:pt idx="4">
                  <c:v>12.9</c:v>
                </c:pt>
                <c:pt idx="5">
                  <c:v>7.2</c:v>
                </c:pt>
                <c:pt idx="6">
                  <c:v>11.8</c:v>
                </c:pt>
                <c:pt idx="7">
                  <c:v>13.2</c:v>
                </c:pt>
                <c:pt idx="8">
                  <c:v>4.8</c:v>
                </c:pt>
                <c:pt idx="9">
                  <c:v>10.6</c:v>
                </c:pt>
                <c:pt idx="10">
                  <c:v>8.6</c:v>
                </c:pt>
                <c:pt idx="11">
                  <c:v>17.4</c:v>
                </c:pt>
                <c:pt idx="12">
                  <c:v>9.2</c:v>
                </c:pt>
                <c:pt idx="13">
                  <c:v>9.7</c:v>
                </c:pt>
                <c:pt idx="14">
                  <c:v>19.0</c:v>
                </c:pt>
                <c:pt idx="15">
                  <c:v>22.4</c:v>
                </c:pt>
                <c:pt idx="16">
                  <c:v>12.5</c:v>
                </c:pt>
                <c:pt idx="17">
                  <c:v>24.4</c:v>
                </c:pt>
                <c:pt idx="18">
                  <c:v>11.3</c:v>
                </c:pt>
                <c:pt idx="19">
                  <c:v>14.6</c:v>
                </c:pt>
                <c:pt idx="20">
                  <c:v>18.0</c:v>
                </c:pt>
                <c:pt idx="21">
                  <c:v>12.5</c:v>
                </c:pt>
                <c:pt idx="22">
                  <c:v>5.6</c:v>
                </c:pt>
                <c:pt idx="23">
                  <c:v>15.5</c:v>
                </c:pt>
                <c:pt idx="24">
                  <c:v>9.7</c:v>
                </c:pt>
                <c:pt idx="25">
                  <c:v>12.0</c:v>
                </c:pt>
                <c:pt idx="26">
                  <c:v>15.0</c:v>
                </c:pt>
                <c:pt idx="27">
                  <c:v>15.9</c:v>
                </c:pt>
                <c:pt idx="28">
                  <c:v>18.9</c:v>
                </c:pt>
                <c:pt idx="29">
                  <c:v>10.5</c:v>
                </c:pt>
                <c:pt idx="30">
                  <c:v>21.4</c:v>
                </c:pt>
                <c:pt idx="31">
                  <c:v>11.9</c:v>
                </c:pt>
                <c:pt idx="32">
                  <c:v>9.6</c:v>
                </c:pt>
                <c:pt idx="33">
                  <c:v>17.4</c:v>
                </c:pt>
                <c:pt idx="34">
                  <c:v>9.5</c:v>
                </c:pt>
                <c:pt idx="35">
                  <c:v>12.8</c:v>
                </c:pt>
                <c:pt idx="36">
                  <c:v>25.4</c:v>
                </c:pt>
                <c:pt idx="37">
                  <c:v>14.7</c:v>
                </c:pt>
                <c:pt idx="38">
                  <c:v>10.1</c:v>
                </c:pt>
                <c:pt idx="39">
                  <c:v>21.5</c:v>
                </c:pt>
                <c:pt idx="40">
                  <c:v>16.6</c:v>
                </c:pt>
                <c:pt idx="41">
                  <c:v>17.1</c:v>
                </c:pt>
                <c:pt idx="42">
                  <c:v>20.7</c:v>
                </c:pt>
                <c:pt idx="43">
                  <c:v>12.9</c:v>
                </c:pt>
                <c:pt idx="44">
                  <c:v>8.5</c:v>
                </c:pt>
                <c:pt idx="45">
                  <c:v>14.9</c:v>
                </c:pt>
                <c:pt idx="46">
                  <c:v>10.6</c:v>
                </c:pt>
                <c:pt idx="47">
                  <c:v>23.2</c:v>
                </c:pt>
                <c:pt idx="48">
                  <c:v>14.8</c:v>
                </c:pt>
                <c:pt idx="49">
                  <c:v>9.7</c:v>
                </c:pt>
                <c:pt idx="50">
                  <c:v>11.4</c:v>
                </c:pt>
                <c:pt idx="51">
                  <c:v>10.7</c:v>
                </c:pt>
                <c:pt idx="52">
                  <c:v>22.6</c:v>
                </c:pt>
                <c:pt idx="53">
                  <c:v>21.2</c:v>
                </c:pt>
                <c:pt idx="54">
                  <c:v>20.2</c:v>
                </c:pt>
                <c:pt idx="55">
                  <c:v>23.7</c:v>
                </c:pt>
                <c:pt idx="56">
                  <c:v>5.5</c:v>
                </c:pt>
                <c:pt idx="57">
                  <c:v>13.2</c:v>
                </c:pt>
                <c:pt idx="58">
                  <c:v>23.8</c:v>
                </c:pt>
                <c:pt idx="59">
                  <c:v>18.4</c:v>
                </c:pt>
                <c:pt idx="60">
                  <c:v>8.1</c:v>
                </c:pt>
                <c:pt idx="61">
                  <c:v>24.2</c:v>
                </c:pt>
                <c:pt idx="62">
                  <c:v>15.7</c:v>
                </c:pt>
                <c:pt idx="63">
                  <c:v>14.0</c:v>
                </c:pt>
                <c:pt idx="64">
                  <c:v>18.0</c:v>
                </c:pt>
                <c:pt idx="65">
                  <c:v>9.3</c:v>
                </c:pt>
                <c:pt idx="66">
                  <c:v>9.5</c:v>
                </c:pt>
                <c:pt idx="67">
                  <c:v>13.4</c:v>
                </c:pt>
                <c:pt idx="68">
                  <c:v>18.9</c:v>
                </c:pt>
                <c:pt idx="69">
                  <c:v>22.3</c:v>
                </c:pt>
                <c:pt idx="70">
                  <c:v>18.3</c:v>
                </c:pt>
                <c:pt idx="71">
                  <c:v>12.4</c:v>
                </c:pt>
                <c:pt idx="72">
                  <c:v>8.8</c:v>
                </c:pt>
                <c:pt idx="73">
                  <c:v>11.0</c:v>
                </c:pt>
                <c:pt idx="74">
                  <c:v>17.0</c:v>
                </c:pt>
                <c:pt idx="75">
                  <c:v>8.7</c:v>
                </c:pt>
                <c:pt idx="76">
                  <c:v>6.9</c:v>
                </c:pt>
                <c:pt idx="77">
                  <c:v>14.2</c:v>
                </c:pt>
                <c:pt idx="78">
                  <c:v>5.3</c:v>
                </c:pt>
                <c:pt idx="79">
                  <c:v>11.0</c:v>
                </c:pt>
                <c:pt idx="80">
                  <c:v>11.8</c:v>
                </c:pt>
                <c:pt idx="81">
                  <c:v>12.3</c:v>
                </c:pt>
                <c:pt idx="82">
                  <c:v>11.3</c:v>
                </c:pt>
                <c:pt idx="83">
                  <c:v>13.6</c:v>
                </c:pt>
                <c:pt idx="84">
                  <c:v>21.7</c:v>
                </c:pt>
                <c:pt idx="85">
                  <c:v>15.2</c:v>
                </c:pt>
                <c:pt idx="86">
                  <c:v>12.0</c:v>
                </c:pt>
                <c:pt idx="87">
                  <c:v>16.0</c:v>
                </c:pt>
                <c:pt idx="88">
                  <c:v>12.9</c:v>
                </c:pt>
                <c:pt idx="89">
                  <c:v>16.7</c:v>
                </c:pt>
                <c:pt idx="90">
                  <c:v>11.2</c:v>
                </c:pt>
                <c:pt idx="91">
                  <c:v>7.3</c:v>
                </c:pt>
                <c:pt idx="92">
                  <c:v>19.4</c:v>
                </c:pt>
                <c:pt idx="93">
                  <c:v>22.2</c:v>
                </c:pt>
                <c:pt idx="94">
                  <c:v>11.5</c:v>
                </c:pt>
                <c:pt idx="95">
                  <c:v>16.9</c:v>
                </c:pt>
                <c:pt idx="96">
                  <c:v>11.7</c:v>
                </c:pt>
                <c:pt idx="97">
                  <c:v>15.5</c:v>
                </c:pt>
                <c:pt idx="98">
                  <c:v>25.4</c:v>
                </c:pt>
                <c:pt idx="99">
                  <c:v>17.2</c:v>
                </c:pt>
                <c:pt idx="100">
                  <c:v>11.7</c:v>
                </c:pt>
                <c:pt idx="101">
                  <c:v>23.8</c:v>
                </c:pt>
                <c:pt idx="102">
                  <c:v>14.8</c:v>
                </c:pt>
                <c:pt idx="103">
                  <c:v>14.7</c:v>
                </c:pt>
                <c:pt idx="104">
                  <c:v>20.7</c:v>
                </c:pt>
                <c:pt idx="105">
                  <c:v>19.2</c:v>
                </c:pt>
                <c:pt idx="106">
                  <c:v>7.2</c:v>
                </c:pt>
                <c:pt idx="107">
                  <c:v>8.7</c:v>
                </c:pt>
                <c:pt idx="108">
                  <c:v>5.3</c:v>
                </c:pt>
                <c:pt idx="109">
                  <c:v>19.8</c:v>
                </c:pt>
                <c:pt idx="110">
                  <c:v>13.4</c:v>
                </c:pt>
                <c:pt idx="111">
                  <c:v>21.8</c:v>
                </c:pt>
                <c:pt idx="112">
                  <c:v>14.1</c:v>
                </c:pt>
                <c:pt idx="113">
                  <c:v>15.9</c:v>
                </c:pt>
                <c:pt idx="114">
                  <c:v>14.6</c:v>
                </c:pt>
                <c:pt idx="115">
                  <c:v>12.6</c:v>
                </c:pt>
                <c:pt idx="116">
                  <c:v>12.2</c:v>
                </c:pt>
                <c:pt idx="117">
                  <c:v>9.4</c:v>
                </c:pt>
                <c:pt idx="118">
                  <c:v>15.9</c:v>
                </c:pt>
                <c:pt idx="119">
                  <c:v>6.6</c:v>
                </c:pt>
                <c:pt idx="120">
                  <c:v>15.5</c:v>
                </c:pt>
                <c:pt idx="121">
                  <c:v>7.0</c:v>
                </c:pt>
                <c:pt idx="122">
                  <c:v>11.6</c:v>
                </c:pt>
                <c:pt idx="123">
                  <c:v>15.2</c:v>
                </c:pt>
                <c:pt idx="124">
                  <c:v>19.7</c:v>
                </c:pt>
                <c:pt idx="125">
                  <c:v>10.6</c:v>
                </c:pt>
                <c:pt idx="126">
                  <c:v>6.6</c:v>
                </c:pt>
                <c:pt idx="127">
                  <c:v>8.8</c:v>
                </c:pt>
                <c:pt idx="128">
                  <c:v>24.7</c:v>
                </c:pt>
                <c:pt idx="129">
                  <c:v>9.7</c:v>
                </c:pt>
                <c:pt idx="130">
                  <c:v>1.6</c:v>
                </c:pt>
                <c:pt idx="131">
                  <c:v>12.7</c:v>
                </c:pt>
                <c:pt idx="132">
                  <c:v>5.7</c:v>
                </c:pt>
                <c:pt idx="133">
                  <c:v>19.6</c:v>
                </c:pt>
                <c:pt idx="134">
                  <c:v>10.8</c:v>
                </c:pt>
                <c:pt idx="135">
                  <c:v>11.6</c:v>
                </c:pt>
                <c:pt idx="136">
                  <c:v>9.5</c:v>
                </c:pt>
                <c:pt idx="137">
                  <c:v>20.8</c:v>
                </c:pt>
                <c:pt idx="138">
                  <c:v>9.6</c:v>
                </c:pt>
                <c:pt idx="139">
                  <c:v>20.7</c:v>
                </c:pt>
                <c:pt idx="140">
                  <c:v>10.9</c:v>
                </c:pt>
                <c:pt idx="141">
                  <c:v>19.2</c:v>
                </c:pt>
                <c:pt idx="142">
                  <c:v>20.1</c:v>
                </c:pt>
                <c:pt idx="143">
                  <c:v>10.4</c:v>
                </c:pt>
                <c:pt idx="144">
                  <c:v>11.4</c:v>
                </c:pt>
                <c:pt idx="145">
                  <c:v>10.3</c:v>
                </c:pt>
                <c:pt idx="146">
                  <c:v>13.2</c:v>
                </c:pt>
                <c:pt idx="147">
                  <c:v>25.4</c:v>
                </c:pt>
                <c:pt idx="148">
                  <c:v>10.9</c:v>
                </c:pt>
                <c:pt idx="149">
                  <c:v>10.1</c:v>
                </c:pt>
                <c:pt idx="150">
                  <c:v>16.1</c:v>
                </c:pt>
                <c:pt idx="151">
                  <c:v>11.6</c:v>
                </c:pt>
                <c:pt idx="152">
                  <c:v>16.6</c:v>
                </c:pt>
                <c:pt idx="153">
                  <c:v>19.0</c:v>
                </c:pt>
                <c:pt idx="154">
                  <c:v>15.6</c:v>
                </c:pt>
                <c:pt idx="155">
                  <c:v>3.2</c:v>
                </c:pt>
                <c:pt idx="156">
                  <c:v>15.3</c:v>
                </c:pt>
                <c:pt idx="157">
                  <c:v>10.1</c:v>
                </c:pt>
                <c:pt idx="158">
                  <c:v>7.3</c:v>
                </c:pt>
                <c:pt idx="159">
                  <c:v>12.9</c:v>
                </c:pt>
                <c:pt idx="160">
                  <c:v>14.4</c:v>
                </c:pt>
                <c:pt idx="161">
                  <c:v>13.3</c:v>
                </c:pt>
                <c:pt idx="162">
                  <c:v>14.9</c:v>
                </c:pt>
                <c:pt idx="163">
                  <c:v>18.0</c:v>
                </c:pt>
                <c:pt idx="164">
                  <c:v>11.9</c:v>
                </c:pt>
                <c:pt idx="165">
                  <c:v>11.9</c:v>
                </c:pt>
                <c:pt idx="166">
                  <c:v>8.0</c:v>
                </c:pt>
                <c:pt idx="167">
                  <c:v>12.2</c:v>
                </c:pt>
                <c:pt idx="168">
                  <c:v>17.1</c:v>
                </c:pt>
                <c:pt idx="169">
                  <c:v>15.0</c:v>
                </c:pt>
                <c:pt idx="170">
                  <c:v>8.4</c:v>
                </c:pt>
                <c:pt idx="171">
                  <c:v>14.5</c:v>
                </c:pt>
                <c:pt idx="172">
                  <c:v>7.6</c:v>
                </c:pt>
                <c:pt idx="173">
                  <c:v>11.7</c:v>
                </c:pt>
                <c:pt idx="174">
                  <c:v>11.5</c:v>
                </c:pt>
                <c:pt idx="175">
                  <c:v>27.0</c:v>
                </c:pt>
                <c:pt idx="176">
                  <c:v>20.2</c:v>
                </c:pt>
                <c:pt idx="177">
                  <c:v>11.7</c:v>
                </c:pt>
                <c:pt idx="178">
                  <c:v>11.8</c:v>
                </c:pt>
                <c:pt idx="179">
                  <c:v>12.6</c:v>
                </c:pt>
                <c:pt idx="180">
                  <c:v>10.5</c:v>
                </c:pt>
                <c:pt idx="181">
                  <c:v>12.2</c:v>
                </c:pt>
                <c:pt idx="182">
                  <c:v>8.7</c:v>
                </c:pt>
                <c:pt idx="183">
                  <c:v>26.2</c:v>
                </c:pt>
                <c:pt idx="184">
                  <c:v>17.6</c:v>
                </c:pt>
                <c:pt idx="185">
                  <c:v>22.6</c:v>
                </c:pt>
                <c:pt idx="186">
                  <c:v>10.3</c:v>
                </c:pt>
                <c:pt idx="187">
                  <c:v>17.3</c:v>
                </c:pt>
                <c:pt idx="188">
                  <c:v>15.9</c:v>
                </c:pt>
                <c:pt idx="189">
                  <c:v>6.7</c:v>
                </c:pt>
                <c:pt idx="190">
                  <c:v>10.8</c:v>
                </c:pt>
                <c:pt idx="191">
                  <c:v>9.9</c:v>
                </c:pt>
                <c:pt idx="192">
                  <c:v>5.9</c:v>
                </c:pt>
                <c:pt idx="193">
                  <c:v>19.6</c:v>
                </c:pt>
                <c:pt idx="194">
                  <c:v>17.3</c:v>
                </c:pt>
                <c:pt idx="195">
                  <c:v>7.6</c:v>
                </c:pt>
                <c:pt idx="196">
                  <c:v>9.7</c:v>
                </c:pt>
                <c:pt idx="197">
                  <c:v>12.8</c:v>
                </c:pt>
                <c:pt idx="198">
                  <c:v>25.5</c:v>
                </c:pt>
                <c:pt idx="199">
                  <c:v>13.4</c:v>
                </c:pt>
              </c:numCache>
            </c:numRef>
          </c:yVal>
          <c:smooth val="0"/>
        </c:ser>
        <c:ser>
          <c:idx val="1"/>
          <c:order val="1"/>
          <c:tx>
            <c:strRef>
              <c:f>Sheet1!$B$203</c:f>
              <c:strCache>
                <c:ptCount val="1"/>
                <c:pt idx="0">
                  <c:v>Recta ajustada</c:v>
                </c:pt>
              </c:strCache>
            </c:strRef>
          </c:tx>
          <c:spPr>
            <a:ln w="38100">
              <a:solidFill>
                <a:srgbClr val="E1962E"/>
              </a:solidFill>
            </a:ln>
          </c:spPr>
          <c:marker>
            <c:symbol val="none"/>
          </c:marker>
          <c:xVal>
            <c:numRef>
              <c:f>Sheet1!$A$204:$A$205</c:f>
              <c:numCache>
                <c:formatCode>General</c:formatCode>
                <c:ptCount val="2"/>
                <c:pt idx="0">
                  <c:v>0.7</c:v>
                </c:pt>
                <c:pt idx="1">
                  <c:v>296.4</c:v>
                </c:pt>
              </c:numCache>
            </c:numRef>
          </c:xVal>
          <c:yVal>
            <c:numRef>
              <c:f>Sheet1!$B$204:$B$205</c:f>
              <c:numCache>
                <c:formatCode>General</c:formatCode>
                <c:ptCount val="2"/>
                <c:pt idx="0">
                  <c:v>7.065869197430809</c:v>
                </c:pt>
                <c:pt idx="1">
                  <c:v>21.122453773474746</c:v>
                </c:pt>
              </c:numCache>
            </c:numRef>
          </c:yVal>
          <c:smooth val="0"/>
        </c:ser>
        <c:axId val="-2128940872"/>
        <c:axId val="-2129643912"/>
      </c:scatterChart>
      <c:valAx>
        <c:axId val="-2128940872"/>
        <c:scaling>
          <c:orientation val="minMax"/>
        </c:scaling>
        <c:delete val="0"/>
        <c:axPos val="b"/>
        <c:title>
          <c:tx>
            <c:rich>
              <a:bodyPr/>
              <a:lstStyle/>
              <a:p>
                <a:r>
                  <a:rPr sz="1200">
                    <a:solidFill>
                      <a:srgbClr val="4B5768"/>
                    </a:solidFill>
                    <a:latin typeface="Calibri"/>
                  </a:rPr>
                  <a:t>TV (miles de dólares)</a:t>
                </a:r>
              </a:p>
            </c:rich>
          </c:tx>
          <c:layout/>
          <c:overlay val="0"/>
        </c:title>
        <c:numFmt formatCode="General" sourceLinked="1"/>
        <c:majorTickMark val="out"/>
        <c:minorTickMark val="none"/>
        <c:tickLblPos val="nextTo"/>
        <c:spPr>
          <a:ln w="9525">
            <a:solidFill>
              <a:srgbClr val="DCE1E8"/>
            </a:solidFill>
          </a:ln>
        </c:spPr>
        <c:txPr>
          <a:bodyPr/>
          <a:lstStyle/>
          <a:p>
            <a:pPr>
              <a:defRPr sz="1100">
                <a:solidFill>
                  <a:srgbClr val="4B5768"/>
                </a:solidFill>
                <a:latin typeface="Calibri"/>
              </a:defRPr>
            </a:pPr>
          </a:p>
        </c:txPr>
        <c:crossAx val="-2129643912"/>
        <c:crosses val="autoZero"/>
        <c:crossBetween val="midCat"/>
      </c:valAx>
      <c:valAx>
        <c:axId val="-2129643912"/>
        <c:scaling>
          <c:orientation val="minMax"/>
        </c:scaling>
        <c:delete val="0"/>
        <c:axPos val="l"/>
        <c:title>
          <c:tx>
            <c:rich>
              <a:bodyPr/>
              <a:lstStyle/>
              <a:p>
                <a:r>
                  <a:rPr sz="1200">
                    <a:solidFill>
                      <a:srgbClr val="4B5768"/>
                    </a:solidFill>
                    <a:latin typeface="Calibri"/>
                  </a:rPr>
                  <a:t>Ventas (miles de unidades)</a:t>
                </a:r>
              </a:p>
            </c:rich>
          </c:tx>
          <c:layout/>
          <c:overlay val="0"/>
        </c:title>
        <c:numFmt formatCode="General" sourceLinked="1"/>
        <c:majorTickMark val="out"/>
        <c:minorTickMark val="none"/>
        <c:tickLblPos val="nextTo"/>
        <c:spPr>
          <a:ln w="9525">
            <a:solidFill>
              <a:srgbClr val="DCE1E8"/>
            </a:solidFill>
          </a:ln>
        </c:spPr>
        <c:txPr>
          <a:bodyPr/>
          <a:lstStyle/>
          <a:p>
            <a:pPr>
              <a:defRPr sz="1100">
                <a:solidFill>
                  <a:srgbClr val="4B5768"/>
                </a:solidFill>
                <a:latin typeface="Calibri"/>
              </a:defRPr>
            </a:pPr>
          </a:p>
        </c:txPr>
        <c:crossAx val="-2128940872"/>
        <c:crosses val="autoZero"/>
        <c:crossBetween val="midCat"/>
      </c:valAx>
    </c:plotArea>
    <c:legend>
      <c:legendPos val="b"/>
      <c:layout/>
      <c:overlay val="0"/>
      <c:txPr>
        <a:bodyPr/>
        <a:lstStyle/>
        <a:p>
          <a:pPr>
            <a:defRPr sz="1200">
              <a:solidFill>
                <a:srgbClr val="4B5768"/>
              </a:solidFill>
              <a:latin typeface="Calibri"/>
            </a:defRPr>
          </a:pPr>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R²</c:v>
                </c:pt>
              </c:strCache>
            </c:strRef>
          </c:tx>
          <c:dPt>
            <c:idx val="0"/>
            <c:spPr>
              <a:solidFill>
                <a:srgbClr val="2E6F9E"/>
              </a:solidFill>
              <a:ln>
                <a:noFill/>
              </a:ln>
            </c:spPr>
          </c:dPt>
          <c:dPt>
            <c:idx val="1"/>
            <c:spPr>
              <a:solidFill>
                <a:srgbClr val="E1962E"/>
              </a:solidFill>
              <a:ln>
                <a:noFill/>
              </a:ln>
            </c:spPr>
          </c:dPt>
          <c:dPt>
            <c:idx val="2"/>
            <c:spPr>
              <a:solidFill>
                <a:srgbClr val="C1443C"/>
              </a:solidFill>
              <a:ln>
                <a:noFill/>
              </a:ln>
            </c:spPr>
          </c:dPt>
          <c:cat>
            <c:strRef>
              <c:f>Sheet1!$A$2:$A$4</c:f>
              <c:strCache>
                <c:ptCount val="3"/>
                <c:pt idx="0">
                  <c:v>TV</c:v>
                </c:pt>
                <c:pt idx="1">
                  <c:v>Radio</c:v>
                </c:pt>
                <c:pt idx="2">
                  <c:v>Periódico</c:v>
                </c:pt>
              </c:strCache>
            </c:strRef>
          </c:cat>
          <c:val>
            <c:numRef>
              <c:f>Sheet1!$B$2:$B$4</c:f>
              <c:numCache>
                <c:formatCode>General</c:formatCode>
                <c:ptCount val="3"/>
                <c:pt idx="0">
                  <c:v>0.611875</c:v>
                </c:pt>
                <c:pt idx="1">
                  <c:v>0.332032</c:v>
                </c:pt>
                <c:pt idx="2">
                  <c:v>0.05212</c:v>
                </c:pt>
              </c:numCache>
            </c:numRef>
          </c:val>
        </c:ser>
        <c:dLbls>
          <c:numFmt formatCode="0.0%" sourceLinked="0"/>
          <c:txPr>
            <a:bodyPr/>
            <a:lstStyle/>
            <a:p>
              <a:pPr>
                <a:defRPr sz="1500" b="1">
                  <a:solidFill>
                    <a:srgbClr val="16233F"/>
                  </a:solidFill>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w="9525">
            <a:solidFill>
              <a:srgbClr val="DCE1E8"/>
            </a:solidFill>
          </a:ln>
        </c:spPr>
        <c:txPr>
          <a:bodyPr/>
          <a:lstStyle/>
          <a:p>
            <a:pPr>
              <a:defRPr sz="1500">
                <a:solidFill>
                  <a:srgbClr val="16233F"/>
                </a:solidFill>
                <a:latin typeface="Calibri"/>
              </a:defRPr>
            </a:pPr>
          </a:p>
        </c:txPr>
        <c:crossAx val="-2113994440"/>
        <c:crosses val="autoZero"/>
        <c:auto val="1"/>
        <c:lblAlgn val="ctr"/>
        <c:lblOffset val="100"/>
        <c:noMultiLvlLbl val="0"/>
      </c:catAx>
      <c:valAx>
        <c:axId val="-2113994440"/>
        <c:scaling/>
        <c:delete val="0"/>
        <c:axPos val="l"/>
        <c:majorTickMark val="out"/>
        <c:minorTickMark val="none"/>
        <c:tickLblPos val="nextTo"/>
        <c:spPr>
          <a:ln w="9525">
            <a:solidFill>
              <a:srgbClr val="DCE1E8"/>
            </a:solidFill>
          </a:ln>
        </c:spPr>
        <c:txPr>
          <a:bodyPr/>
          <a:lstStyle/>
          <a:p>
            <a:pPr>
              <a:defRPr sz="100">
                <a:solidFill>
                  <a:srgbClr val="4B5768"/>
                </a:solidFill>
                <a:latin typeface="Calibri"/>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R²</c:v>
                </c:pt>
              </c:strCache>
            </c:strRef>
          </c:tx>
          <c:dPt>
            <c:idx val="0"/>
            <c:spPr>
              <a:solidFill>
                <a:srgbClr val="4B5768"/>
              </a:solidFill>
              <a:ln>
                <a:noFill/>
              </a:ln>
            </c:spPr>
          </c:dPt>
          <c:dPt>
            <c:idx val="1"/>
            <c:spPr>
              <a:solidFill>
                <a:srgbClr val="2E6F9E"/>
              </a:solidFill>
              <a:ln>
                <a:noFill/>
              </a:ln>
            </c:spPr>
          </c:dPt>
          <c:dPt>
            <c:idx val="2"/>
            <c:spPr>
              <a:solidFill>
                <a:srgbClr val="C1443C"/>
              </a:solidFill>
              <a:ln>
                <a:noFill/>
              </a:ln>
            </c:spPr>
          </c:dPt>
          <c:cat>
            <c:strRef>
              <c:f>Sheet1!$A$2:$A$4</c:f>
              <c:strCache>
                <c:ptCount val="3"/>
                <c:pt idx="0">
                  <c:v>Grado 1</c:v>
                </c:pt>
                <c:pt idx="1">
                  <c:v>Grado 5</c:v>
                </c:pt>
                <c:pt idx="2">
                  <c:v>Grado 9</c:v>
                </c:pt>
              </c:strCache>
            </c:strRef>
          </c:cat>
          <c:val>
            <c:numRef>
              <c:f>Sheet1!$B$2:$B$4</c:f>
              <c:numCache>
                <c:formatCode>General</c:formatCode>
                <c:ptCount val="3"/>
                <c:pt idx="0">
                  <c:v>0.687227</c:v>
                </c:pt>
                <c:pt idx="1">
                  <c:v>0.995363</c:v>
                </c:pt>
                <c:pt idx="2">
                  <c:v>0.659979</c:v>
                </c:pt>
              </c:numCache>
            </c:numRef>
          </c:val>
        </c:ser>
        <c:dLbls>
          <c:numFmt formatCode="0.0%" sourceLinked="0"/>
          <c:txPr>
            <a:bodyPr/>
            <a:lstStyle/>
            <a:p>
              <a:pPr>
                <a:defRPr sz="1600" b="1">
                  <a:solidFill>
                    <a:srgbClr val="16233F"/>
                  </a:solidFill>
                  <a:latin typeface="Calibri"/>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nextTo"/>
        <c:spPr>
          <a:ln w="9525">
            <a:solidFill>
              <a:srgbClr val="DCE1E8"/>
            </a:solidFill>
          </a:ln>
        </c:spPr>
        <c:txPr>
          <a:bodyPr/>
          <a:lstStyle/>
          <a:p>
            <a:pPr>
              <a:defRPr sz="1500">
                <a:solidFill>
                  <a:srgbClr val="16233F"/>
                </a:solidFill>
                <a:latin typeface="Calibri"/>
              </a:defRPr>
            </a:pPr>
          </a:p>
        </c:txPr>
        <c:crossAx val="-2113994440"/>
        <c:crosses val="autoZero"/>
        <c:auto val="1"/>
        <c:lblAlgn val="ctr"/>
        <c:lblOffset val="100"/>
        <c:noMultiLvlLbl val="0"/>
      </c:catAx>
      <c:valAx>
        <c:axId val="-2113994440"/>
        <c:scaling/>
        <c:delete val="0"/>
        <c:axPos val="l"/>
        <c:majorTickMark val="out"/>
        <c:minorTickMark val="none"/>
        <c:tickLblPos val="nextTo"/>
        <c:spPr>
          <a:ln w="9525">
            <a:solidFill>
              <a:srgbClr val="DCE1E8"/>
            </a:solidFill>
          </a:ln>
        </c:spPr>
        <c:txPr>
          <a:bodyPr/>
          <a:lstStyle/>
          <a:p>
            <a:pPr>
              <a:defRPr sz="100">
                <a:solidFill>
                  <a:srgbClr val="4B5768"/>
                </a:solidFill>
                <a:latin typeface="Calibri"/>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Sin escalar</c:v>
                </c:pt>
              </c:strCache>
            </c:strRef>
          </c:tx>
          <c:spPr>
            <a:solidFill>
              <a:srgbClr val="4B5768"/>
            </a:solidFill>
            <a:ln>
              <a:noFill/>
            </a:ln>
          </c:spPr>
          <c:cat>
            <c:strRef>
              <c:f>Sheet1!$A$2:$A$3</c:f>
              <c:strCache>
                <c:ptCount val="2"/>
                <c:pt idx="0">
                  <c:v>Batería</c:v>
                </c:pt>
                <c:pt idx="1">
                  <c:v>Salario mínimo</c:v>
                </c:pt>
              </c:strCache>
            </c:strRef>
          </c:cat>
          <c:val>
            <c:numRef>
              <c:f>Sheet1!$B$2:$B$3</c:f>
              <c:numCache>
                <c:formatCode>General</c:formatCode>
                <c:ptCount val="2"/>
                <c:pt idx="0">
                  <c:v>0.659979</c:v>
                </c:pt>
                <c:pt idx="1">
                  <c:v>0.868525</c:v>
                </c:pt>
              </c:numCache>
            </c:numRef>
          </c:val>
        </c:ser>
        <c:ser>
          <c:idx val="1"/>
          <c:order val="1"/>
          <c:tx>
            <c:strRef>
              <c:f>Sheet1!$C$1</c:f>
              <c:strCache>
                <c:ptCount val="1"/>
                <c:pt idx="0">
                  <c:v>Escalado [1, 2]</c:v>
                </c:pt>
              </c:strCache>
            </c:strRef>
          </c:tx>
          <c:spPr>
            <a:solidFill>
              <a:srgbClr val="2E6F9E"/>
            </a:solidFill>
            <a:ln>
              <a:noFill/>
            </a:ln>
          </c:spPr>
          <c:cat>
            <c:strRef>
              <c:f>Sheet1!$A$2:$A$3</c:f>
              <c:strCache>
                <c:ptCount val="2"/>
                <c:pt idx="0">
                  <c:v>Batería</c:v>
                </c:pt>
                <c:pt idx="1">
                  <c:v>Salario mínimo</c:v>
                </c:pt>
              </c:strCache>
            </c:strRef>
          </c:cat>
          <c:val>
            <c:numRef>
              <c:f>Sheet1!$C$2:$C$3</c:f>
              <c:numCache>
                <c:formatCode>General</c:formatCode>
                <c:ptCount val="2"/>
                <c:pt idx="0">
                  <c:v>0.992469</c:v>
                </c:pt>
                <c:pt idx="1">
                  <c:v>0.996148</c:v>
                </c:pt>
              </c:numCache>
            </c:numRef>
          </c:val>
        </c:ser>
        <c:ser>
          <c:idx val="2"/>
          <c:order val="2"/>
          <c:tx>
            <c:strRef>
              <c:f>Sheet1!$D$1</c:f>
              <c:strCache>
                <c:ptCount val="1"/>
                <c:pt idx="0">
                  <c:v>Estandarizado</c:v>
                </c:pt>
              </c:strCache>
            </c:strRef>
          </c:tx>
          <c:spPr>
            <a:solidFill>
              <a:srgbClr val="E1962E"/>
            </a:solidFill>
            <a:ln>
              <a:noFill/>
            </a:ln>
          </c:spPr>
          <c:cat>
            <c:strRef>
              <c:f>Sheet1!$A$2:$A$3</c:f>
              <c:strCache>
                <c:ptCount val="2"/>
                <c:pt idx="0">
                  <c:v>Batería</c:v>
                </c:pt>
                <c:pt idx="1">
                  <c:v>Salario mínimo</c:v>
                </c:pt>
              </c:strCache>
            </c:strRef>
          </c:cat>
          <c:val>
            <c:numRef>
              <c:f>Sheet1!$D$2:$D$3</c:f>
              <c:numCache>
                <c:formatCode>General</c:formatCode>
                <c:ptCount val="2"/>
                <c:pt idx="0">
                  <c:v>0.998913</c:v>
                </c:pt>
                <c:pt idx="1">
                  <c:v>0.999466</c:v>
                </c:pt>
              </c:numCache>
            </c:numRef>
          </c:val>
        </c:ser>
        <c:dLbls>
          <c:numFmt formatCode="0%" sourceLinked="0"/>
          <c:txPr>
            <a:bodyPr/>
            <a:lstStyle/>
            <a:p>
              <a:pPr>
                <a:defRPr sz="1250" b="1">
                  <a:solidFill>
                    <a:srgbClr val="16233F"/>
                  </a:solidFill>
                  <a:latin typeface="Calibri"/>
                </a:defRPr>
              </a:pPr>
            </a:p>
          </c:txPr>
          <c:dLblPos val="outEnd"/>
          <c:showLegendKey val="0"/>
          <c:showVal val="1"/>
          <c:showCatName val="0"/>
          <c:showSerName val="0"/>
          <c:showPercent val="0"/>
          <c:showBubbleSize val="0"/>
          <c:showLeaderLines val="1"/>
        </c:dLbls>
        <c:gapWidth val="90"/>
        <c:overlap val="-8"/>
        <c:axId val="-2068027336"/>
        <c:axId val="-2113994440"/>
      </c:barChart>
      <c:catAx>
        <c:axId val="-2068027336"/>
        <c:scaling>
          <c:orientation val="minMax"/>
        </c:scaling>
        <c:delete val="0"/>
        <c:axPos val="b"/>
        <c:majorTickMark val="out"/>
        <c:minorTickMark val="none"/>
        <c:tickLblPos val="nextTo"/>
        <c:spPr>
          <a:ln w="9525">
            <a:solidFill>
              <a:srgbClr val="DCE1E8"/>
            </a:solidFill>
          </a:ln>
        </c:spPr>
        <c:txPr>
          <a:bodyPr/>
          <a:lstStyle/>
          <a:p>
            <a:pPr>
              <a:defRPr sz="1500">
                <a:solidFill>
                  <a:srgbClr val="16233F"/>
                </a:solidFill>
                <a:latin typeface="Calibri"/>
              </a:defRPr>
            </a:pPr>
          </a:p>
        </c:txPr>
        <c:crossAx val="-2113994440"/>
        <c:crosses val="autoZero"/>
        <c:auto val="1"/>
        <c:lblAlgn val="ctr"/>
        <c:lblOffset val="100"/>
        <c:noMultiLvlLbl val="0"/>
      </c:catAx>
      <c:valAx>
        <c:axId val="-2113994440"/>
        <c:scaling/>
        <c:delete val="0"/>
        <c:axPos val="l"/>
        <c:majorTickMark val="out"/>
        <c:minorTickMark val="none"/>
        <c:tickLblPos val="nextTo"/>
        <c:spPr>
          <a:ln w="9525">
            <a:solidFill>
              <a:srgbClr val="DCE1E8"/>
            </a:solidFill>
          </a:ln>
        </c:spPr>
        <c:txPr>
          <a:bodyPr/>
          <a:lstStyle/>
          <a:p>
            <a:pPr>
              <a:defRPr sz="100">
                <a:solidFill>
                  <a:srgbClr val="4B5768"/>
                </a:solidFill>
                <a:latin typeface="Calibri"/>
              </a:defRPr>
            </a:pPr>
          </a:p>
        </c:txPr>
        <c:crossAx val="-2068027336"/>
        <c:crosses val="autoZero"/>
      </c:valAx>
    </c:plotArea>
    <c:legend>
      <c:legendPos val="b"/>
      <c:overlay val="0"/>
      <c:txPr>
        <a:bodyPr/>
        <a:lstStyle/>
        <a:p>
          <a:pPr>
            <a:defRPr sz="1250">
              <a:solidFill>
                <a:srgbClr val="4B5768"/>
              </a:solidFill>
              <a:latin typeface="Calibri"/>
            </a:defRPr>
          </a:pPr>
        </a:p>
      </c:txPr>
    </c:legend>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Efecto en la calificación</c:v>
                </c:pt>
              </c:strCache>
            </c:strRef>
          </c:tx>
          <c:dPt>
            <c:idx val="0"/>
            <c:spPr>
              <a:solidFill>
                <a:srgbClr val="2E6F9E"/>
              </a:solidFill>
              <a:ln>
                <a:noFill/>
              </a:ln>
            </c:spPr>
          </c:dPt>
          <c:dPt>
            <c:idx val="1"/>
            <c:spPr>
              <a:solidFill>
                <a:srgbClr val="2E6F9E"/>
              </a:solidFill>
              <a:ln>
                <a:noFill/>
              </a:ln>
            </c:spPr>
          </c:dPt>
          <c:dPt>
            <c:idx val="2"/>
            <c:spPr>
              <a:solidFill>
                <a:srgbClr val="2E6F9E"/>
              </a:solidFill>
              <a:ln>
                <a:noFill/>
              </a:ln>
            </c:spPr>
          </c:dPt>
          <c:dPt>
            <c:idx val="3"/>
            <c:spPr>
              <a:solidFill>
                <a:srgbClr val="2E6F9E"/>
              </a:solidFill>
              <a:ln>
                <a:noFill/>
              </a:ln>
            </c:spPr>
          </c:dPt>
          <c:dPt>
            <c:idx val="4"/>
            <c:spPr>
              <a:solidFill>
                <a:srgbClr val="2E6F9E"/>
              </a:solidFill>
              <a:ln>
                <a:noFill/>
              </a:ln>
            </c:spPr>
          </c:dPt>
          <c:dPt>
            <c:idx val="5"/>
            <c:spPr>
              <a:solidFill>
                <a:srgbClr val="2E6F9E"/>
              </a:solidFill>
              <a:ln>
                <a:noFill/>
              </a:ln>
            </c:spPr>
          </c:dPt>
          <c:dPt>
            <c:idx val="6"/>
            <c:spPr>
              <a:solidFill>
                <a:srgbClr val="C1443C"/>
              </a:solidFill>
              <a:ln>
                <a:noFill/>
              </a:ln>
            </c:spPr>
          </c:dPt>
          <c:dLbls>
            <c:dLbl>
              <c:idx val="0"/>
              <c:tx>
                <c:rich>
                  <a:bodyPr/>
                  <a:lstStyle/>
                  <a:p>
                    <a:pPr>
                      <a:defRPr/>
                    </a:pPr>
                    <a:r>
                      <a:rPr sz="1300" b="1">
                        <a:solidFill>
                          <a:srgbClr val="16233F"/>
                        </a:solidFill>
                        <a:latin typeface="Calibri"/>
                      </a:rPr>
                      <a:t>+2.37</a:t>
                    </a:r>
                  </a:p>
                </c:rich>
              </c:tx>
              <c:showLegendKey val="0"/>
              <c:showVal val="1"/>
              <c:showCatName val="0"/>
              <c:showSerName val="0"/>
              <c:showPercent val="0"/>
              <c:showBubbleSize val="0"/>
            </c:dLbl>
            <c:dLbl>
              <c:idx val="1"/>
              <c:tx>
                <c:rich>
                  <a:bodyPr/>
                  <a:lstStyle/>
                  <a:p>
                    <a:pPr>
                      <a:defRPr/>
                    </a:pPr>
                    <a:r>
                      <a:rPr sz="1300" b="1">
                        <a:solidFill>
                          <a:srgbClr val="16233F"/>
                        </a:solidFill>
                        <a:latin typeface="Calibri"/>
                      </a:rPr>
                      <a:t>+1.60</a:t>
                    </a:r>
                  </a:p>
                </c:rich>
              </c:tx>
              <c:showLegendKey val="0"/>
              <c:showVal val="1"/>
              <c:showCatName val="0"/>
              <c:showSerName val="0"/>
              <c:showPercent val="0"/>
              <c:showBubbleSize val="0"/>
            </c:dLbl>
            <c:dLbl>
              <c:idx val="2"/>
              <c:tx>
                <c:rich>
                  <a:bodyPr/>
                  <a:lstStyle/>
                  <a:p>
                    <a:pPr>
                      <a:defRPr/>
                    </a:pPr>
                    <a:r>
                      <a:rPr sz="1300" b="1">
                        <a:solidFill>
                          <a:srgbClr val="16233F"/>
                        </a:solidFill>
                        <a:latin typeface="Calibri"/>
                      </a:rPr>
                      <a:t>+1.49</a:t>
                    </a:r>
                  </a:p>
                </c:rich>
              </c:tx>
              <c:showLegendKey val="0"/>
              <c:showVal val="1"/>
              <c:showCatName val="0"/>
              <c:showSerName val="0"/>
              <c:showPercent val="0"/>
              <c:showBubbleSize val="0"/>
            </c:dLbl>
            <c:dLbl>
              <c:idx val="3"/>
              <c:tx>
                <c:rich>
                  <a:bodyPr/>
                  <a:lstStyle/>
                  <a:p>
                    <a:pPr>
                      <a:defRPr/>
                    </a:pPr>
                    <a:r>
                      <a:rPr sz="1300" b="1">
                        <a:solidFill>
                          <a:srgbClr val="16233F"/>
                        </a:solidFill>
                        <a:latin typeface="Calibri"/>
                      </a:rPr>
                      <a:t>+1.12</a:t>
                    </a:r>
                  </a:p>
                </c:rich>
              </c:tx>
              <c:showLegendKey val="0"/>
              <c:showVal val="1"/>
              <c:showCatName val="0"/>
              <c:showSerName val="0"/>
              <c:showPercent val="0"/>
              <c:showBubbleSize val="0"/>
            </c:dLbl>
            <c:dLbl>
              <c:idx val="4"/>
              <c:tx>
                <c:rich>
                  <a:bodyPr/>
                  <a:lstStyle/>
                  <a:p>
                    <a:pPr>
                      <a:defRPr/>
                    </a:pPr>
                    <a:r>
                      <a:rPr sz="1300" b="1">
                        <a:solidFill>
                          <a:srgbClr val="16233F"/>
                        </a:solidFill>
                        <a:latin typeface="Calibri"/>
                      </a:rPr>
                      <a:t>+0.62</a:t>
                    </a:r>
                  </a:p>
                </c:rich>
              </c:tx>
              <c:showLegendKey val="0"/>
              <c:showVal val="1"/>
              <c:showCatName val="0"/>
              <c:showSerName val="0"/>
              <c:showPercent val="0"/>
              <c:showBubbleSize val="0"/>
            </c:dLbl>
            <c:dLbl>
              <c:idx val="5"/>
              <c:tx>
                <c:rich>
                  <a:bodyPr/>
                  <a:lstStyle/>
                  <a:p>
                    <a:pPr>
                      <a:defRPr/>
                    </a:pPr>
                    <a:r>
                      <a:rPr sz="1300" b="1">
                        <a:solidFill>
                          <a:srgbClr val="16233F"/>
                        </a:solidFill>
                        <a:latin typeface="Calibri"/>
                      </a:rPr>
                      <a:t>+0.50</a:t>
                    </a:r>
                  </a:p>
                </c:rich>
              </c:tx>
              <c:showLegendKey val="0"/>
              <c:showVal val="1"/>
              <c:showCatName val="0"/>
              <c:showSerName val="0"/>
              <c:showPercent val="0"/>
              <c:showBubbleSize val="0"/>
            </c:dLbl>
            <c:dLbl>
              <c:idx val="6"/>
              <c:tx>
                <c:rich>
                  <a:bodyPr/>
                  <a:lstStyle/>
                  <a:p>
                    <a:pPr>
                      <a:defRPr/>
                    </a:pPr>
                    <a:r>
                      <a:rPr sz="1300" b="1">
                        <a:solidFill>
                          <a:srgbClr val="16233F"/>
                        </a:solidFill>
                        <a:latin typeface="Calibri"/>
                      </a:rPr>
                      <a:t>-0.13</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Kahlúa</c:v>
                </c:pt>
                <c:pt idx="1">
                  <c:v>Hielo</c:v>
                </c:pt>
                <c:pt idx="2">
                  <c:v>Naranja</c:v>
                </c:pt>
                <c:pt idx="3">
                  <c:v>Fresa-piña</c:v>
                </c:pt>
                <c:pt idx="4">
                  <c:v>Coco</c:v>
                </c:pt>
                <c:pt idx="5">
                  <c:v>Tamaño</c:v>
                </c:pt>
                <c:pt idx="6">
                  <c:v>Sandía</c:v>
                </c:pt>
              </c:strCache>
            </c:strRef>
          </c:cat>
          <c:val>
            <c:numRef>
              <c:f>Sheet1!$B$2:$B$8</c:f>
              <c:numCache>
                <c:formatCode>General</c:formatCode>
                <c:ptCount val="7"/>
                <c:pt idx="0">
                  <c:v>2.3667</c:v>
                </c:pt>
                <c:pt idx="1">
                  <c:v>1.6</c:v>
                </c:pt>
                <c:pt idx="2">
                  <c:v>1.4917</c:v>
                </c:pt>
                <c:pt idx="3">
                  <c:v>1.1167</c:v>
                </c:pt>
                <c:pt idx="4">
                  <c:v>0.6167</c:v>
                </c:pt>
                <c:pt idx="5">
                  <c:v>0.5</c:v>
                </c:pt>
                <c:pt idx="6">
                  <c:v>0.1333</c:v>
                </c:pt>
              </c:numCache>
            </c:numRef>
          </c:val>
        </c:ser>
        <c:dLbls>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low"/>
        <c:spPr>
          <a:ln w="9525">
            <a:solidFill>
              <a:srgbClr val="DCE1E8"/>
            </a:solidFill>
          </a:ln>
        </c:spPr>
        <c:txPr>
          <a:bodyPr/>
          <a:lstStyle/>
          <a:p>
            <a:pPr>
              <a:defRPr sz="1400">
                <a:solidFill>
                  <a:srgbClr val="16233F"/>
                </a:solidFill>
                <a:latin typeface="Calibri"/>
              </a:defRPr>
            </a:pPr>
          </a:p>
        </c:txPr>
        <c:crossAx val="-2113994440"/>
        <c:crosses val="autoZero"/>
        <c:auto val="1"/>
        <c:lblAlgn val="ctr"/>
        <c:lblOffset val="100"/>
        <c:noMultiLvlLbl val="0"/>
      </c:catAx>
      <c:valAx>
        <c:axId val="-2113994440"/>
        <c:scaling/>
        <c:delete val="0"/>
        <c:axPos val="b"/>
        <c:majorTickMark val="out"/>
        <c:minorTickMark val="none"/>
        <c:tickLblPos val="nextTo"/>
        <c:spPr>
          <a:ln w="9525">
            <a:solidFill>
              <a:srgbClr val="DCE1E8"/>
            </a:solidFill>
          </a:ln>
        </c:spPr>
        <c:txPr>
          <a:bodyPr/>
          <a:lstStyle/>
          <a:p>
            <a:pPr>
              <a:defRPr sz="100">
                <a:solidFill>
                  <a:srgbClr val="4B5768"/>
                </a:solidFill>
                <a:latin typeface="Calibri"/>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Buenas tardes. Esta presentación es un repaso del primer parcial del laboratorio de aprendizaje estadístico. A lo largo del semestre trabajamos siete notebooks que, vistos en conjunto, cuentan una sola historia: cómo pasar de ajustar una simple recta a construir un modelo completo, confiable y bien preparado. Voy a recorrer cinco bloques: regresión lineal simple, significancia estadística, regresión múltiple, regresión polinómica con escalamiento, y codificación de variables categóricas.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bloque del laboratorio responde una pregunta distinta, y cada una se apoya en la anterior. Empezamos preguntando si hay relación entre dos variables, luego si esa relación es estadísticamente real, después qué pasa al combinar varias variables, seguimos con qué tan complejo conviene hacer un modelo, y cerramos viendo cómo meter variables que no son numéricas. Vamos paso a paso, y cada pregunta nueva depende de haber resuelto la anterior.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Arrancamos con el bloque más fundamental del laboratorio: la regresión lineal simple, la base sobre la que se construye todo lo demás.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idea de mínimos cuadrados es simple: entre todas las rectas posibles, elegimos la que minimiza la suma de los errores al cuadrado, es decir, la distancia vertical entre cada punto real y la recta. Con los datos de publicidad ajustamos ventas contra el gasto en televisión y obtuvimos que las ventas suben en promedio cerca de 47.5 unidades por cada mil dólares extra en televisión. En la gráfica se nota una tendencia positiva clara, aunque los puntos no caen exactamente sobre la línea; eso es justo lo que el error residual está capturando.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R² mide que proporción de la varianza total, TSS, queda explicada por el modelo, y va de 0 a 1. En el ejercicio con datos simulados el ajuste fue casi perfecto, 97 por ciento, porque el ruido que agregamos era pequeño y controlado. En el caso real de publicidad, la televisión por sí sola explica 61 por ciento de las ventas: es una relación fuerte, pero deja bastante varianza sin explicar, lo cual tiene sentido porque en la vida real hay más factores en juego que en un experimento simulado. Este número nos lleva directo a la siguiente pregunta: ¿ese 61 por ciento es una relación real o pudo salir por pura casualidad de la muestra?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confiar en un coeficiente necesitamos probar que no salió por pura casualidad de la muestra que nos tocó. A eso se dedica este bloque.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no quedarnos solo con la intuición de la gráfica, seguimos un camino formal. Primero calculamos el error estándar del coeficiente, que depende de qué tan dispersos están los residuos y de cuanta variación hay en X. Con ese error armamos un intervalo de confianza al 95 por ciento, que en este caso no toca el cero, y calculamos un estadístico t dividiendo el coeficiente entre su error estándar. Un t de 17.67 es enorme, y al traducirlo a probabilidad el p-value sale prácticamente cero. Esto nos permite rechazar con mucha confianza la hipótesis nula de que no hay relación entre televisión y ventas.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Repetimos el mismo procedimiento para radio y para periódico. Los tres p-values salen significativos, menores a 0.05, así que en una regresión simple, un medio a la vez, los tres parecen tener relación con las ventas. Pero la fuerza es muy distinta: la televisión explica 61 por ciento de la variación, la radio 33 por ciento, y el periódico apenas 5 por ciento. Esto ya es una pista de que no todos los medios pesan igual, y nos lleva a preguntarnos qué pasa si los metemos todos juntos en un solo modelo.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Hasta ahora vimos cada medio por separado. En este bloque los juntamos en un solo modelo y vemos que cambia.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Cuando metemos las tres variables juntas en un solo modelo con mínimos cuadrados, el R² sube a 0.897, muy por encima de cualquiera de las regresiones simples. El estadístico F, que prueba la significancia global del modelo, sale enorme con un p-value prácticamente cero. Pero lo más interesante es lo que le pasa al coeficiente del periódico: en el modelo múltiple se vuelve casi cero, y eso es una señal de que algo raro está pasando con esa variable.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correlación entre el gasto en radio y en periódico es de 0.354: en los mercados donde se invierte más en radio también se tiende a invertir más en periódico. Cuando el periódico se analiza solo, ese patrón lo hace parecer significativo, con un p-value de 0.0011. Pero en cuanto metemos radio al modelo, el periódico deja de aportar información nueva y su p-value se dispara a 0.86. En otras palabras, el periódico no estaba vendiendo, estaba nada más viajando junto con la radio. Además, como el modelo completo explica mucho mejor los datos, el error residual baja bastante, de 3.26 a 1.69, y eso hace que los errores estándar de TV y radio se hagan más chicos y sus estadísticos t crezcan todavía más.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Ahora complicamos el modelo agregando potencias de X, y descubrimos que la complejidad trae un riesgo numérico que hay que resolver.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los datos de batería contra duración, probamos un modelo de primer orden, uno de quinto orden y uno de noveno orden. Del primero al quinto el ajuste mejora muchísimo, de 69 por ciento a casi 100 por ciento. Pero al subir a grado nueve el R² se desploma a 66 por ciento, peor que el modelo lineal simple. Esto no es que el modelo de grado nueve sea conceptualmente peor; el problema es numérico: al elevar valores de carga hasta la potencia nueve sin escalar, los números se vuelven enormes o minúsculos y el algoritmo de mínimos cuadrados pierde precisión. Con los datos de salario mínimo pasa algo parecido, aunque menos grave porque ahí ya se habían centrado los años restando el valor mínimo.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solución no es abandonar el modelo de grado nueve, sino preparar mejor los datos antes de elevarlos a esas potencias. Aplicamos dos técnicas: llevar la variable a un rango fijo entre 1 y 2, y estandarizarla restando la media y dividiendo entre la desviación estándar. En los dos casos, para batería y para salario mínimo, el R² del modelo de grado nueve vuelve a subir por encima de 99 por ciento, resolviendo por completo la inestabilidad numérica que vimos en la diapositiva anterior. La lección aquí es que escalar no es un paso cosmético, es lo que hace posible entrenar modelos más complejos de forma confiable.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Cerramos el laboratorio con variables que no son números. Veremos cómo convertirlas sin perder información.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archivo de aguas frescas tiene veinte combinaciones: cinco sabores, dos tamaños y dos niveles de hielo. Tamaño y hielo son variables binarias naturales, así que las codificamos como cero y uno. El sabor es distinto porque tiene cinco categorías sin ningún orden natural, así que usamos codificación one-hot: una columna binaria por cada sabor. Hicimos este proceso primero a mano con pandas y NumPy, y después lo repetimos con las herramientas de sklearn, OrdinalEncoder y OneHotEncoder, y los coeficientes salieron exactamente iguales en ambos casos.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todas las variables codificadas corrimos una regresión múltiple por mínimos cuadrados. El modelo explica 92.7 por ciento de la variación en la calificación. Kahlúa es el sabor con mayor efecto positivo, seguido de cerca por el hielo, que sube casi dos puntos la calificación. El tamaño grande también ayuda, pero mucho menos. Sandía es el único coeficiente negativo, y además no es estadísticamente significativo, con un p-value de 0.486, así que no podemos afirmar con confianza que ese sabor realmente reste puntos. Vale la pena mencionar un detalle técnico: como usamos las cinco columnas de sabor más una columna de intercepto, hay colinealidad perfecta y la matriz de diseño es singular; statsmodels lo resuelve usando la pseudo-inversa, y confirmamos que sklearn llega exactamente a los mismos números.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cerrar: si algo queda claro después de estos siete notebooks es que la regresión no es una receta de un solo paso. Cada bloque que vimos hoy responde una pregunta distinta y todas se necesitan juntas: primero confirmar que hay relación, luego probar que es estadísticamente real y no ruido, después entender cómo interactúan varias variables entre sí, seguido de saber qué tan complejo puede ser el modelo sin volverse numéricamente inestable, y finalmente saber meter información que ni siquiera es numérica. Con esto termino mi repaso, quedo abierto a cualquier pregunta.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33F"/>
        </a:solidFill>
        <a:effectLst/>
      </p:bgPr>
    </p:bg>
    <p:spTree>
      <p:nvGrpSpPr>
        <p:cNvPr id="1" name=""/>
        <p:cNvGrpSpPr/>
        <p:nvPr/>
      </p:nvGrpSpPr>
      <p:grpSpPr/>
      <p:sp>
        <p:nvSpPr>
          <p:cNvPr id="2" name="Oval 1"/>
          <p:cNvSpPr/>
          <p:nvPr/>
        </p:nvSpPr>
        <p:spPr>
          <a:xfrm>
            <a:off x="7792598" y="4989560"/>
            <a:ext cx="51044" cy="51044"/>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876214" y="4828492"/>
            <a:ext cx="50434" cy="50434"/>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956202" y="4947928"/>
            <a:ext cx="57083" cy="57083"/>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044178" y="5089576"/>
            <a:ext cx="47754" cy="47754"/>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125324" y="4880856"/>
            <a:ext cx="52087" cy="52087"/>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13564" y="4996823"/>
            <a:ext cx="42231" cy="42231"/>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93873" y="4586221"/>
            <a:ext cx="48237" cy="48237"/>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377776" y="4104692"/>
            <a:ext cx="47055" cy="47055"/>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62668" y="4640198"/>
            <a:ext cx="43894" cy="43894"/>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539889" y="4611727"/>
            <a:ext cx="56077" cy="56077"/>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627196" y="4189017"/>
            <a:ext cx="48087" cy="48087"/>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705028" y="4162687"/>
            <a:ext cx="59047" cy="59047"/>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91895" y="4184081"/>
            <a:ext cx="51937" cy="51937"/>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875069" y="4457846"/>
            <a:ext cx="52213" cy="52213"/>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958080" y="4099099"/>
            <a:ext cx="52815" cy="52815"/>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041040" y="3797972"/>
            <a:ext cx="53518" cy="53518"/>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29159" y="4404308"/>
            <a:ext cx="43905" cy="43905"/>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209823" y="4047987"/>
            <a:ext cx="49200" cy="49200"/>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294971" y="4456823"/>
            <a:ext cx="45529" cy="45529"/>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76793" y="4191402"/>
            <a:ext cx="48508" cy="48508"/>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462901" y="4310206"/>
            <a:ext cx="42916" cy="42916"/>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538248" y="3713515"/>
            <a:ext cx="58847" cy="58847"/>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28444" y="3993150"/>
            <a:ext cx="45079" cy="45079"/>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07578" y="3422423"/>
            <a:ext cx="53433" cy="53433"/>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94286" y="3398948"/>
            <a:ext cx="46642" cy="46642"/>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2352" y="3441643"/>
            <a:ext cx="57133" cy="57133"/>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957602" y="4139880"/>
            <a:ext cx="53258" cy="53258"/>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45766" y="3434758"/>
            <a:ext cx="43554" cy="43554"/>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122554" y="3203964"/>
            <a:ext cx="56602" cy="56602"/>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204952" y="3085977"/>
            <a:ext cx="58429" cy="58429"/>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88640" y="3558588"/>
            <a:ext cx="57678" cy="57678"/>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375007" y="3153851"/>
            <a:ext cx="51567" cy="51567"/>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462199" y="3256949"/>
            <a:ext cx="43808" cy="43808"/>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545081" y="3136877"/>
            <a:ext cx="44667" cy="44667"/>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621668" y="2455542"/>
            <a:ext cx="58117" cy="58117"/>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708415" y="3004657"/>
            <a:ext cx="51248" cy="51248"/>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795126" y="2690809"/>
            <a:ext cx="44449" cy="44449"/>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872005" y="2320807"/>
            <a:ext cx="57315" cy="57315"/>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957534" y="2737984"/>
            <a:ext cx="52881" cy="52881"/>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041504" y="2520343"/>
            <a:ext cx="51566" cy="51566"/>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126584" y="2385335"/>
            <a:ext cx="48029" cy="48029"/>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209579" y="2336006"/>
            <a:ext cx="48663" cy="48663"/>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294459" y="2694051"/>
            <a:ext cx="45527" cy="45527"/>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1379613" y="2206878"/>
            <a:ext cx="41843" cy="41843"/>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1455261" y="1716241"/>
            <a:ext cx="57172" cy="57172"/>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1542308" y="2604351"/>
            <a:ext cx="49701" cy="49701"/>
          </a:xfrm>
          <a:prstGeom prst="ellipse">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flipV="1">
            <a:off x="7818120" y="2357323"/>
            <a:ext cx="3749039" cy="2424989"/>
          </a:xfrm>
          <a:prstGeom prst="line">
            <a:avLst/>
          </a:prstGeom>
          <a:ln w="34925">
            <a:solidFill>
              <a:srgbClr val="E1962E"/>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868680" y="1417320"/>
            <a:ext cx="6400800" cy="292608"/>
          </a:xfrm>
          <a:prstGeom prst="rect">
            <a:avLst/>
          </a:prstGeom>
          <a:noFill/>
        </p:spPr>
        <p:txBody>
          <a:bodyPr wrap="square" anchor="t" lIns="0" rIns="0" tIns="0" bIns="0">
            <a:spAutoFit/>
          </a:bodyPr>
          <a:lstStyle/>
          <a:p>
            <a:pPr algn="l">
              <a:lnSpc>
                <a:spcPct val="112000"/>
              </a:lnSpc>
            </a:pPr>
            <a:r>
              <a:rPr sz="1250" b="1" i="0" spc="200">
                <a:solidFill>
                  <a:srgbClr val="E1962E"/>
                </a:solidFill>
                <a:latin typeface="Calibri"/>
              </a:rPr>
              <a:t>LABORATORIO DE APRENDIZAJE ESTADÍSTICO</a:t>
            </a:r>
          </a:p>
        </p:txBody>
      </p:sp>
      <p:sp>
        <p:nvSpPr>
          <p:cNvPr id="50" name="TextBox 49"/>
          <p:cNvSpPr txBox="1"/>
          <p:nvPr/>
        </p:nvSpPr>
        <p:spPr>
          <a:xfrm>
            <a:off x="868680" y="1828800"/>
            <a:ext cx="6675120" cy="2011680"/>
          </a:xfrm>
          <a:prstGeom prst="rect">
            <a:avLst/>
          </a:prstGeom>
          <a:noFill/>
        </p:spPr>
        <p:txBody>
          <a:bodyPr wrap="square" anchor="t" lIns="0" rIns="0" tIns="0" bIns="0">
            <a:spAutoFit/>
          </a:bodyPr>
          <a:lstStyle/>
          <a:p>
            <a:pPr algn="l">
              <a:lnSpc>
                <a:spcPct val="103000"/>
              </a:lnSpc>
            </a:pPr>
            <a:r>
              <a:rPr sz="4600" b="1" i="0">
                <a:solidFill>
                  <a:srgbClr val="FFFFFF"/>
                </a:solidFill>
                <a:latin typeface="Cambria"/>
              </a:rPr>
              <a:t>Del ajuste de una recta</a:t>
            </a:r>
          </a:p>
          <a:p>
            <a:pPr algn="l">
              <a:lnSpc>
                <a:spcPct val="103000"/>
              </a:lnSpc>
            </a:pPr>
            <a:r>
              <a:rPr sz="4600" b="1" i="0">
                <a:solidFill>
                  <a:srgbClr val="FFFFFF"/>
                </a:solidFill>
                <a:latin typeface="Cambria"/>
              </a:rPr>
              <a:t>a un modelo completo</a:t>
            </a:r>
          </a:p>
        </p:txBody>
      </p:sp>
      <p:sp>
        <p:nvSpPr>
          <p:cNvPr id="51" name="TextBox 50"/>
          <p:cNvSpPr txBox="1"/>
          <p:nvPr/>
        </p:nvSpPr>
        <p:spPr>
          <a:xfrm>
            <a:off x="868680" y="3611880"/>
            <a:ext cx="6400800" cy="914400"/>
          </a:xfrm>
          <a:prstGeom prst="rect">
            <a:avLst/>
          </a:prstGeom>
          <a:noFill/>
        </p:spPr>
        <p:txBody>
          <a:bodyPr wrap="square" anchor="t" lIns="0" rIns="0" tIns="0" bIns="0">
            <a:spAutoFit/>
          </a:bodyPr>
          <a:lstStyle/>
          <a:p>
            <a:pPr algn="l">
              <a:lnSpc>
                <a:spcPct val="132000"/>
              </a:lnSpc>
            </a:pPr>
            <a:r>
              <a:rPr sz="1800" b="0" i="0">
                <a:solidFill>
                  <a:srgbClr val="C9D3E0"/>
                </a:solidFill>
                <a:latin typeface="Calibri"/>
              </a:rPr>
              <a:t>Repaso del primer parcial: regresión, significancia,</a:t>
            </a:r>
          </a:p>
          <a:p>
            <a:pPr algn="l">
              <a:lnSpc>
                <a:spcPct val="132000"/>
              </a:lnSpc>
            </a:pPr>
            <a:r>
              <a:rPr sz="1800" b="0" i="0">
                <a:solidFill>
                  <a:srgbClr val="C9D3E0"/>
                </a:solidFill>
                <a:latin typeface="Calibri"/>
              </a:rPr>
              <a:t>regresión múltiple, escalamiento y variables categóricas.</a:t>
            </a:r>
          </a:p>
        </p:txBody>
      </p:sp>
      <p:sp>
        <p:nvSpPr>
          <p:cNvPr id="52" name="Rectangle 51"/>
          <p:cNvSpPr/>
          <p:nvPr/>
        </p:nvSpPr>
        <p:spPr>
          <a:xfrm>
            <a:off x="868680" y="5074920"/>
            <a:ext cx="502920" cy="17780"/>
          </a:xfrm>
          <a:prstGeom prst="rect">
            <a:avLst/>
          </a:prstGeom>
          <a:solidFill>
            <a:srgbClr val="E19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68680" y="5230368"/>
            <a:ext cx="6400800" cy="822960"/>
          </a:xfrm>
          <a:prstGeom prst="rect">
            <a:avLst/>
          </a:prstGeom>
          <a:noFill/>
        </p:spPr>
        <p:txBody>
          <a:bodyPr wrap="square" anchor="t" lIns="0" rIns="0" tIns="0" bIns="0">
            <a:spAutoFit/>
          </a:bodyPr>
          <a:lstStyle/>
          <a:p>
            <a:pPr algn="l">
              <a:lnSpc>
                <a:spcPct val="135000"/>
              </a:lnSpc>
            </a:pPr>
            <a:r>
              <a:rPr sz="1350" b="0" i="0">
                <a:solidFill>
                  <a:srgbClr val="8B96A8"/>
                </a:solidFill>
                <a:latin typeface="Calibri"/>
              </a:rPr>
              <a:t>Carlos Enrique Nieves Ochoa   ·   Expediente 758210</a:t>
            </a:r>
          </a:p>
          <a:p>
            <a:pPr algn="l">
              <a:lnSpc>
                <a:spcPct val="135000"/>
              </a:lnSpc>
            </a:pPr>
            <a:r>
              <a:rPr sz="1350" b="0" i="0">
                <a:solidFill>
                  <a:srgbClr val="8B96A8"/>
                </a:solidFill>
                <a:latin typeface="Calibri"/>
              </a:rPr>
              <a:t>Aprendizaje Estadístico — Primer Parcial   ·   4 de septiembre de 2026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685800" y="502920"/>
            <a:ext cx="10820095" cy="292608"/>
          </a:xfrm>
          <a:prstGeom prst="rect">
            <a:avLst/>
          </a:prstGeom>
          <a:noFill/>
        </p:spPr>
        <p:txBody>
          <a:bodyPr wrap="square" anchor="t" lIns="0" rIns="0" tIns="0" bIns="0">
            <a:spAutoFit/>
          </a:bodyPr>
          <a:lstStyle/>
          <a:p>
            <a:pPr algn="l">
              <a:lnSpc>
                <a:spcPct val="112000"/>
              </a:lnSpc>
            </a:pPr>
            <a:r>
              <a:rPr sz="1250" b="1" i="0" spc="200">
                <a:solidFill>
                  <a:srgbClr val="2E6F9E"/>
                </a:solidFill>
                <a:latin typeface="Calibri"/>
              </a:rPr>
              <a:t>MAPA DEL LABORATORIO</a:t>
            </a:r>
          </a:p>
        </p:txBody>
      </p:sp>
      <p:sp>
        <p:nvSpPr>
          <p:cNvPr id="3" name="TextBox 2"/>
          <p:cNvSpPr txBox="1"/>
          <p:nvPr/>
        </p:nvSpPr>
        <p:spPr>
          <a:xfrm>
            <a:off x="685800" y="786384"/>
            <a:ext cx="10820095" cy="960120"/>
          </a:xfrm>
          <a:prstGeom prst="rect">
            <a:avLst/>
          </a:prstGeom>
          <a:noFill/>
        </p:spPr>
        <p:txBody>
          <a:bodyPr wrap="square" anchor="t" lIns="0" rIns="0" tIns="0" bIns="0">
            <a:spAutoFit/>
          </a:bodyPr>
          <a:lstStyle/>
          <a:p>
            <a:pPr algn="l">
              <a:lnSpc>
                <a:spcPct val="105000"/>
              </a:lnSpc>
            </a:pPr>
            <a:r>
              <a:rPr sz="3200" b="1" i="0">
                <a:solidFill>
                  <a:srgbClr val="16233F"/>
                </a:solidFill>
                <a:latin typeface="Cambria"/>
              </a:rPr>
              <a:t>Cinco preguntas, un mismo hilo conductor</a:t>
            </a:r>
          </a:p>
        </p:txBody>
      </p:sp>
      <p:sp>
        <p:nvSpPr>
          <p:cNvPr id="4" name="TextBox 3"/>
          <p:cNvSpPr txBox="1"/>
          <p:nvPr/>
        </p:nvSpPr>
        <p:spPr>
          <a:xfrm>
            <a:off x="685800" y="1600200"/>
            <a:ext cx="10820095" cy="457200"/>
          </a:xfrm>
          <a:prstGeom prst="rect">
            <a:avLst/>
          </a:prstGeom>
          <a:noFill/>
        </p:spPr>
        <p:txBody>
          <a:bodyPr wrap="square" anchor="t" lIns="0" rIns="0" tIns="0" bIns="0">
            <a:spAutoFit/>
          </a:bodyPr>
          <a:lstStyle/>
          <a:p>
            <a:pPr algn="l">
              <a:lnSpc>
                <a:spcPct val="112000"/>
              </a:lnSpc>
            </a:pPr>
            <a:r>
              <a:rPr sz="1600" b="0" i="0">
                <a:solidFill>
                  <a:srgbClr val="4B5768"/>
                </a:solidFill>
                <a:latin typeface="Calibri"/>
              </a:rPr>
              <a:t>Cada bloque responde una pregunta distinta y se apoya en las respuestas del anterior.</a:t>
            </a:r>
          </a:p>
        </p:txBody>
      </p:sp>
      <p:sp>
        <p:nvSpPr>
          <p:cNvPr id="5" name="Rounded Rectangle 4"/>
          <p:cNvSpPr/>
          <p:nvPr/>
        </p:nvSpPr>
        <p:spPr>
          <a:xfrm>
            <a:off x="685800" y="2331720"/>
            <a:ext cx="1681429" cy="3429000"/>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0392" y="2587752"/>
            <a:ext cx="1352245" cy="822960"/>
          </a:xfrm>
          <a:prstGeom prst="rect">
            <a:avLst/>
          </a:prstGeom>
          <a:noFill/>
        </p:spPr>
        <p:txBody>
          <a:bodyPr wrap="square" anchor="t" lIns="0" rIns="0" tIns="0" bIns="0">
            <a:spAutoFit/>
          </a:bodyPr>
          <a:lstStyle/>
          <a:p>
            <a:pPr algn="l">
              <a:lnSpc>
                <a:spcPct val="112000"/>
              </a:lnSpc>
            </a:pPr>
            <a:r>
              <a:rPr sz="4000" b="1" i="0">
                <a:solidFill>
                  <a:srgbClr val="E1962E"/>
                </a:solidFill>
                <a:latin typeface="Cambria"/>
              </a:rPr>
              <a:t>01</a:t>
            </a:r>
          </a:p>
        </p:txBody>
      </p:sp>
      <p:sp>
        <p:nvSpPr>
          <p:cNvPr id="7" name="TextBox 6"/>
          <p:cNvSpPr txBox="1"/>
          <p:nvPr/>
        </p:nvSpPr>
        <p:spPr>
          <a:xfrm>
            <a:off x="850392" y="3502152"/>
            <a:ext cx="1352245" cy="914400"/>
          </a:xfrm>
          <a:prstGeom prst="rect">
            <a:avLst/>
          </a:prstGeom>
          <a:noFill/>
        </p:spPr>
        <p:txBody>
          <a:bodyPr wrap="square" anchor="t" lIns="0" rIns="0" tIns="0" bIns="0">
            <a:spAutoFit/>
          </a:bodyPr>
          <a:lstStyle/>
          <a:p>
            <a:pPr algn="l">
              <a:lnSpc>
                <a:spcPct val="108000"/>
              </a:lnSpc>
            </a:pPr>
            <a:r>
              <a:rPr sz="1550" b="1" i="0">
                <a:solidFill>
                  <a:srgbClr val="16233F"/>
                </a:solidFill>
                <a:latin typeface="Cambria"/>
              </a:rPr>
              <a:t>Regresión simple</a:t>
            </a:r>
          </a:p>
        </p:txBody>
      </p:sp>
      <p:sp>
        <p:nvSpPr>
          <p:cNvPr id="8" name="Rectangle 7"/>
          <p:cNvSpPr/>
          <p:nvPr/>
        </p:nvSpPr>
        <p:spPr>
          <a:xfrm>
            <a:off x="850392" y="4325112"/>
            <a:ext cx="365760" cy="25400"/>
          </a:xfrm>
          <a:prstGeom prst="rect">
            <a:avLst/>
          </a:prstGeom>
          <a:solidFill>
            <a:srgbClr val="E19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4480560"/>
            <a:ext cx="1352245" cy="1143000"/>
          </a:xfrm>
          <a:prstGeom prst="rect">
            <a:avLst/>
          </a:prstGeom>
          <a:noFill/>
        </p:spPr>
        <p:txBody>
          <a:bodyPr wrap="square" anchor="t" lIns="0" rIns="0" tIns="0" bIns="0">
            <a:spAutoFit/>
          </a:bodyPr>
          <a:lstStyle/>
          <a:p>
            <a:pPr algn="l">
              <a:lnSpc>
                <a:spcPct val="128000"/>
              </a:lnSpc>
            </a:pPr>
            <a:r>
              <a:rPr sz="1250" b="0" i="0">
                <a:solidFill>
                  <a:srgbClr val="4B5768"/>
                </a:solidFill>
                <a:latin typeface="Calibri"/>
              </a:rPr>
              <a:t>¿Existe relación entre dos variables?</a:t>
            </a:r>
          </a:p>
        </p:txBody>
      </p:sp>
      <p:sp>
        <p:nvSpPr>
          <p:cNvPr id="10" name="Rounded Rectangle 9"/>
          <p:cNvSpPr/>
          <p:nvPr/>
        </p:nvSpPr>
        <p:spPr>
          <a:xfrm>
            <a:off x="2970466" y="2331720"/>
            <a:ext cx="1681429" cy="3429000"/>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35058" y="2587752"/>
            <a:ext cx="1352245" cy="822960"/>
          </a:xfrm>
          <a:prstGeom prst="rect">
            <a:avLst/>
          </a:prstGeom>
          <a:noFill/>
        </p:spPr>
        <p:txBody>
          <a:bodyPr wrap="square" anchor="t" lIns="0" rIns="0" tIns="0" bIns="0">
            <a:spAutoFit/>
          </a:bodyPr>
          <a:lstStyle/>
          <a:p>
            <a:pPr algn="l">
              <a:lnSpc>
                <a:spcPct val="112000"/>
              </a:lnSpc>
            </a:pPr>
            <a:r>
              <a:rPr sz="4000" b="1" i="0">
                <a:solidFill>
                  <a:srgbClr val="2E6F9E"/>
                </a:solidFill>
                <a:latin typeface="Cambria"/>
              </a:rPr>
              <a:t>02</a:t>
            </a:r>
          </a:p>
        </p:txBody>
      </p:sp>
      <p:sp>
        <p:nvSpPr>
          <p:cNvPr id="12" name="TextBox 11"/>
          <p:cNvSpPr txBox="1"/>
          <p:nvPr/>
        </p:nvSpPr>
        <p:spPr>
          <a:xfrm>
            <a:off x="3135058" y="3502152"/>
            <a:ext cx="1352245" cy="914400"/>
          </a:xfrm>
          <a:prstGeom prst="rect">
            <a:avLst/>
          </a:prstGeom>
          <a:noFill/>
        </p:spPr>
        <p:txBody>
          <a:bodyPr wrap="square" anchor="t" lIns="0" rIns="0" tIns="0" bIns="0">
            <a:spAutoFit/>
          </a:bodyPr>
          <a:lstStyle/>
          <a:p>
            <a:pPr algn="l">
              <a:lnSpc>
                <a:spcPct val="108000"/>
              </a:lnSpc>
            </a:pPr>
            <a:r>
              <a:rPr sz="1550" b="1" i="0">
                <a:solidFill>
                  <a:srgbClr val="16233F"/>
                </a:solidFill>
                <a:latin typeface="Cambria"/>
              </a:rPr>
              <a:t>Significancia</a:t>
            </a:r>
          </a:p>
        </p:txBody>
      </p:sp>
      <p:sp>
        <p:nvSpPr>
          <p:cNvPr id="13" name="Rectangle 12"/>
          <p:cNvSpPr/>
          <p:nvPr/>
        </p:nvSpPr>
        <p:spPr>
          <a:xfrm>
            <a:off x="3135058" y="4325112"/>
            <a:ext cx="365760" cy="25400"/>
          </a:xfrm>
          <a:prstGeom prst="rect">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35058" y="4480560"/>
            <a:ext cx="1352245" cy="1143000"/>
          </a:xfrm>
          <a:prstGeom prst="rect">
            <a:avLst/>
          </a:prstGeom>
          <a:noFill/>
        </p:spPr>
        <p:txBody>
          <a:bodyPr wrap="square" anchor="t" lIns="0" rIns="0" tIns="0" bIns="0">
            <a:spAutoFit/>
          </a:bodyPr>
          <a:lstStyle/>
          <a:p>
            <a:pPr algn="l">
              <a:lnSpc>
                <a:spcPct val="128000"/>
              </a:lnSpc>
            </a:pPr>
            <a:r>
              <a:rPr sz="1250" b="0" i="0">
                <a:solidFill>
                  <a:srgbClr val="4B5768"/>
                </a:solidFill>
                <a:latin typeface="Calibri"/>
              </a:rPr>
              <a:t>¿Esa relación es real o pura casualidad?</a:t>
            </a:r>
          </a:p>
        </p:txBody>
      </p:sp>
      <p:sp>
        <p:nvSpPr>
          <p:cNvPr id="15" name="Rounded Rectangle 14"/>
          <p:cNvSpPr/>
          <p:nvPr/>
        </p:nvSpPr>
        <p:spPr>
          <a:xfrm>
            <a:off x="5255133" y="2331720"/>
            <a:ext cx="1681429" cy="3429000"/>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19725" y="2587752"/>
            <a:ext cx="1352245" cy="822960"/>
          </a:xfrm>
          <a:prstGeom prst="rect">
            <a:avLst/>
          </a:prstGeom>
          <a:noFill/>
        </p:spPr>
        <p:txBody>
          <a:bodyPr wrap="square" anchor="t" lIns="0" rIns="0" tIns="0" bIns="0">
            <a:spAutoFit/>
          </a:bodyPr>
          <a:lstStyle/>
          <a:p>
            <a:pPr algn="l">
              <a:lnSpc>
                <a:spcPct val="112000"/>
              </a:lnSpc>
            </a:pPr>
            <a:r>
              <a:rPr sz="4000" b="1" i="0">
                <a:solidFill>
                  <a:srgbClr val="E1962E"/>
                </a:solidFill>
                <a:latin typeface="Cambria"/>
              </a:rPr>
              <a:t>03</a:t>
            </a:r>
          </a:p>
        </p:txBody>
      </p:sp>
      <p:sp>
        <p:nvSpPr>
          <p:cNvPr id="17" name="TextBox 16"/>
          <p:cNvSpPr txBox="1"/>
          <p:nvPr/>
        </p:nvSpPr>
        <p:spPr>
          <a:xfrm>
            <a:off x="5419725" y="3502152"/>
            <a:ext cx="1352245" cy="914400"/>
          </a:xfrm>
          <a:prstGeom prst="rect">
            <a:avLst/>
          </a:prstGeom>
          <a:noFill/>
        </p:spPr>
        <p:txBody>
          <a:bodyPr wrap="square" anchor="t" lIns="0" rIns="0" tIns="0" bIns="0">
            <a:spAutoFit/>
          </a:bodyPr>
          <a:lstStyle/>
          <a:p>
            <a:pPr algn="l">
              <a:lnSpc>
                <a:spcPct val="108000"/>
              </a:lnSpc>
            </a:pPr>
            <a:r>
              <a:rPr sz="1550" b="1" i="0">
                <a:solidFill>
                  <a:srgbClr val="16233F"/>
                </a:solidFill>
                <a:latin typeface="Cambria"/>
              </a:rPr>
              <a:t>Regresión múltiple</a:t>
            </a:r>
          </a:p>
        </p:txBody>
      </p:sp>
      <p:sp>
        <p:nvSpPr>
          <p:cNvPr id="18" name="Rectangle 17"/>
          <p:cNvSpPr/>
          <p:nvPr/>
        </p:nvSpPr>
        <p:spPr>
          <a:xfrm>
            <a:off x="5419725" y="4325112"/>
            <a:ext cx="365760" cy="25400"/>
          </a:xfrm>
          <a:prstGeom prst="rect">
            <a:avLst/>
          </a:prstGeom>
          <a:solidFill>
            <a:srgbClr val="E19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19725" y="4480560"/>
            <a:ext cx="1352245" cy="1143000"/>
          </a:xfrm>
          <a:prstGeom prst="rect">
            <a:avLst/>
          </a:prstGeom>
          <a:noFill/>
        </p:spPr>
        <p:txBody>
          <a:bodyPr wrap="square" anchor="t" lIns="0" rIns="0" tIns="0" bIns="0">
            <a:spAutoFit/>
          </a:bodyPr>
          <a:lstStyle/>
          <a:p>
            <a:pPr algn="l">
              <a:lnSpc>
                <a:spcPct val="128000"/>
              </a:lnSpc>
            </a:pPr>
            <a:r>
              <a:rPr sz="1250" b="0" i="0">
                <a:solidFill>
                  <a:srgbClr val="4B5768"/>
                </a:solidFill>
                <a:latin typeface="Calibri"/>
              </a:rPr>
              <a:t>¿Qué pasa al mirar varias variables a la vez?</a:t>
            </a:r>
          </a:p>
        </p:txBody>
      </p:sp>
      <p:sp>
        <p:nvSpPr>
          <p:cNvPr id="20" name="Rounded Rectangle 19"/>
          <p:cNvSpPr/>
          <p:nvPr/>
        </p:nvSpPr>
        <p:spPr>
          <a:xfrm>
            <a:off x="7539799" y="2331720"/>
            <a:ext cx="1681429" cy="3429000"/>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04391" y="2587752"/>
            <a:ext cx="1352245" cy="822960"/>
          </a:xfrm>
          <a:prstGeom prst="rect">
            <a:avLst/>
          </a:prstGeom>
          <a:noFill/>
        </p:spPr>
        <p:txBody>
          <a:bodyPr wrap="square" anchor="t" lIns="0" rIns="0" tIns="0" bIns="0">
            <a:spAutoFit/>
          </a:bodyPr>
          <a:lstStyle/>
          <a:p>
            <a:pPr algn="l">
              <a:lnSpc>
                <a:spcPct val="112000"/>
              </a:lnSpc>
            </a:pPr>
            <a:r>
              <a:rPr sz="4000" b="1" i="0">
                <a:solidFill>
                  <a:srgbClr val="2E6F9E"/>
                </a:solidFill>
                <a:latin typeface="Cambria"/>
              </a:rPr>
              <a:t>04</a:t>
            </a:r>
          </a:p>
        </p:txBody>
      </p:sp>
      <p:sp>
        <p:nvSpPr>
          <p:cNvPr id="22" name="TextBox 21"/>
          <p:cNvSpPr txBox="1"/>
          <p:nvPr/>
        </p:nvSpPr>
        <p:spPr>
          <a:xfrm>
            <a:off x="7704391" y="3502152"/>
            <a:ext cx="1352245" cy="914400"/>
          </a:xfrm>
          <a:prstGeom prst="rect">
            <a:avLst/>
          </a:prstGeom>
          <a:noFill/>
        </p:spPr>
        <p:txBody>
          <a:bodyPr wrap="square" anchor="t" lIns="0" rIns="0" tIns="0" bIns="0">
            <a:spAutoFit/>
          </a:bodyPr>
          <a:lstStyle/>
          <a:p>
            <a:pPr algn="l">
              <a:lnSpc>
                <a:spcPct val="108000"/>
              </a:lnSpc>
            </a:pPr>
            <a:r>
              <a:rPr sz="1550" b="1" i="0">
                <a:solidFill>
                  <a:srgbClr val="16233F"/>
                </a:solidFill>
                <a:latin typeface="Cambria"/>
              </a:rPr>
              <a:t>Polinómica y escalamiento</a:t>
            </a:r>
          </a:p>
        </p:txBody>
      </p:sp>
      <p:sp>
        <p:nvSpPr>
          <p:cNvPr id="23" name="Rectangle 22"/>
          <p:cNvSpPr/>
          <p:nvPr/>
        </p:nvSpPr>
        <p:spPr>
          <a:xfrm>
            <a:off x="7704391" y="4325112"/>
            <a:ext cx="365760" cy="25400"/>
          </a:xfrm>
          <a:prstGeom prst="rect">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04391" y="4480560"/>
            <a:ext cx="1352245" cy="1143000"/>
          </a:xfrm>
          <a:prstGeom prst="rect">
            <a:avLst/>
          </a:prstGeom>
          <a:noFill/>
        </p:spPr>
        <p:txBody>
          <a:bodyPr wrap="square" anchor="t" lIns="0" rIns="0" tIns="0" bIns="0">
            <a:spAutoFit/>
          </a:bodyPr>
          <a:lstStyle/>
          <a:p>
            <a:pPr algn="l">
              <a:lnSpc>
                <a:spcPct val="128000"/>
              </a:lnSpc>
            </a:pPr>
            <a:r>
              <a:rPr sz="1250" b="0" i="0">
                <a:solidFill>
                  <a:srgbClr val="4B5768"/>
                </a:solidFill>
                <a:latin typeface="Calibri"/>
              </a:rPr>
              <a:t>¿Más complejidad siempre mejora el ajuste?</a:t>
            </a:r>
          </a:p>
        </p:txBody>
      </p:sp>
      <p:sp>
        <p:nvSpPr>
          <p:cNvPr id="25" name="Rounded Rectangle 24"/>
          <p:cNvSpPr/>
          <p:nvPr/>
        </p:nvSpPr>
        <p:spPr>
          <a:xfrm>
            <a:off x="9824466" y="2331720"/>
            <a:ext cx="1681429" cy="3429000"/>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989058" y="2587752"/>
            <a:ext cx="1352245" cy="822960"/>
          </a:xfrm>
          <a:prstGeom prst="rect">
            <a:avLst/>
          </a:prstGeom>
          <a:noFill/>
        </p:spPr>
        <p:txBody>
          <a:bodyPr wrap="square" anchor="t" lIns="0" rIns="0" tIns="0" bIns="0">
            <a:spAutoFit/>
          </a:bodyPr>
          <a:lstStyle/>
          <a:p>
            <a:pPr algn="l">
              <a:lnSpc>
                <a:spcPct val="112000"/>
              </a:lnSpc>
            </a:pPr>
            <a:r>
              <a:rPr sz="4000" b="1" i="0">
                <a:solidFill>
                  <a:srgbClr val="E1962E"/>
                </a:solidFill>
                <a:latin typeface="Cambria"/>
              </a:rPr>
              <a:t>05</a:t>
            </a:r>
          </a:p>
        </p:txBody>
      </p:sp>
      <p:sp>
        <p:nvSpPr>
          <p:cNvPr id="27" name="TextBox 26"/>
          <p:cNvSpPr txBox="1"/>
          <p:nvPr/>
        </p:nvSpPr>
        <p:spPr>
          <a:xfrm>
            <a:off x="9989058" y="3502152"/>
            <a:ext cx="1352245" cy="914400"/>
          </a:xfrm>
          <a:prstGeom prst="rect">
            <a:avLst/>
          </a:prstGeom>
          <a:noFill/>
        </p:spPr>
        <p:txBody>
          <a:bodyPr wrap="square" anchor="t" lIns="0" rIns="0" tIns="0" bIns="0">
            <a:spAutoFit/>
          </a:bodyPr>
          <a:lstStyle/>
          <a:p>
            <a:pPr algn="l">
              <a:lnSpc>
                <a:spcPct val="108000"/>
              </a:lnSpc>
            </a:pPr>
            <a:r>
              <a:rPr sz="1550" b="1" i="0">
                <a:solidFill>
                  <a:srgbClr val="16233F"/>
                </a:solidFill>
                <a:latin typeface="Cambria"/>
              </a:rPr>
              <a:t>Codificación categórica</a:t>
            </a:r>
          </a:p>
        </p:txBody>
      </p:sp>
      <p:sp>
        <p:nvSpPr>
          <p:cNvPr id="28" name="Rectangle 27"/>
          <p:cNvSpPr/>
          <p:nvPr/>
        </p:nvSpPr>
        <p:spPr>
          <a:xfrm>
            <a:off x="9989058" y="4325112"/>
            <a:ext cx="365760" cy="25400"/>
          </a:xfrm>
          <a:prstGeom prst="rect">
            <a:avLst/>
          </a:prstGeom>
          <a:solidFill>
            <a:srgbClr val="E19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989058" y="4480560"/>
            <a:ext cx="1352245" cy="1143000"/>
          </a:xfrm>
          <a:prstGeom prst="rect">
            <a:avLst/>
          </a:prstGeom>
          <a:noFill/>
        </p:spPr>
        <p:txBody>
          <a:bodyPr wrap="square" anchor="t" lIns="0" rIns="0" tIns="0" bIns="0">
            <a:spAutoFit/>
          </a:bodyPr>
          <a:lstStyle/>
          <a:p>
            <a:pPr algn="l">
              <a:lnSpc>
                <a:spcPct val="128000"/>
              </a:lnSpc>
            </a:pPr>
            <a:r>
              <a:rPr sz="1250" b="0" i="0">
                <a:solidFill>
                  <a:srgbClr val="4B5768"/>
                </a:solidFill>
                <a:latin typeface="Calibri"/>
              </a:rPr>
              <a:t>¿Cómo entran categorías a un modelo numérico?</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6233F"/>
        </a:solidFill>
        <a:effectLst/>
      </p:bgPr>
    </p:bg>
    <p:spTree>
      <p:nvGrpSpPr>
        <p:cNvPr id="1" name=""/>
        <p:cNvGrpSpPr/>
        <p:nvPr/>
      </p:nvGrpSpPr>
      <p:grpSpPr/>
      <p:sp>
        <p:nvSpPr>
          <p:cNvPr id="2" name="TextBox 1"/>
          <p:cNvSpPr txBox="1"/>
          <p:nvPr/>
        </p:nvSpPr>
        <p:spPr>
          <a:xfrm>
            <a:off x="822960" y="1234440"/>
            <a:ext cx="5943600" cy="2834640"/>
          </a:xfrm>
          <a:prstGeom prst="rect">
            <a:avLst/>
          </a:prstGeom>
          <a:noFill/>
        </p:spPr>
        <p:txBody>
          <a:bodyPr wrap="square" anchor="t" lIns="0" rIns="0" tIns="0" bIns="0">
            <a:spAutoFit/>
          </a:bodyPr>
          <a:lstStyle/>
          <a:p>
            <a:pPr algn="l">
              <a:lnSpc>
                <a:spcPct val="100000"/>
              </a:lnSpc>
            </a:pPr>
            <a:r>
              <a:rPr sz="19000" b="1" i="0">
                <a:solidFill>
                  <a:srgbClr val="E1962E"/>
                </a:solidFill>
                <a:latin typeface="Cambria"/>
              </a:rPr>
              <a:t>01</a:t>
            </a:r>
          </a:p>
        </p:txBody>
      </p:sp>
      <p:sp>
        <p:nvSpPr>
          <p:cNvPr id="3" name="Rectangle 2"/>
          <p:cNvSpPr/>
          <p:nvPr/>
        </p:nvSpPr>
        <p:spPr>
          <a:xfrm>
            <a:off x="914400" y="4343400"/>
            <a:ext cx="640080" cy="20320"/>
          </a:xfrm>
          <a:prstGeom prst="rect">
            <a:avLst/>
          </a:prstGeom>
          <a:solidFill>
            <a:srgbClr val="E19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4526280"/>
            <a:ext cx="9601200" cy="914400"/>
          </a:xfrm>
          <a:prstGeom prst="rect">
            <a:avLst/>
          </a:prstGeom>
          <a:noFill/>
        </p:spPr>
        <p:txBody>
          <a:bodyPr wrap="square" anchor="t" lIns="0" rIns="0" tIns="0" bIns="0">
            <a:spAutoFit/>
          </a:bodyPr>
          <a:lstStyle/>
          <a:p>
            <a:pPr algn="l">
              <a:lnSpc>
                <a:spcPct val="112000"/>
              </a:lnSpc>
            </a:pPr>
            <a:r>
              <a:rPr sz="4000" b="1" i="0">
                <a:solidFill>
                  <a:srgbClr val="FFFFFF"/>
                </a:solidFill>
                <a:latin typeface="Cambria"/>
              </a:rPr>
              <a:t>Regresión lineal simple</a:t>
            </a:r>
          </a:p>
        </p:txBody>
      </p:sp>
      <p:sp>
        <p:nvSpPr>
          <p:cNvPr id="5" name="TextBox 4"/>
          <p:cNvSpPr txBox="1"/>
          <p:nvPr/>
        </p:nvSpPr>
        <p:spPr>
          <a:xfrm>
            <a:off x="868680" y="5349240"/>
            <a:ext cx="9144000" cy="822960"/>
          </a:xfrm>
          <a:prstGeom prst="rect">
            <a:avLst/>
          </a:prstGeom>
          <a:noFill/>
        </p:spPr>
        <p:txBody>
          <a:bodyPr wrap="square" anchor="t" lIns="0" rIns="0" tIns="0" bIns="0">
            <a:spAutoFit/>
          </a:bodyPr>
          <a:lstStyle/>
          <a:p>
            <a:pPr algn="l">
              <a:lnSpc>
                <a:spcPct val="130000"/>
              </a:lnSpc>
            </a:pPr>
            <a:r>
              <a:rPr sz="1850" b="0" i="0">
                <a:solidFill>
                  <a:srgbClr val="C9D3E0"/>
                </a:solidFill>
                <a:latin typeface="Calibri"/>
              </a:rPr>
              <a:t>Ajustar la recta que mejor resume la relación entre dos variables.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8951747" y="530352"/>
            <a:ext cx="2554148" cy="274320"/>
          </a:xfrm>
          <a:prstGeom prst="rect">
            <a:avLst/>
          </a:prstGeom>
          <a:noFill/>
        </p:spPr>
        <p:txBody>
          <a:bodyPr wrap="square" anchor="t" lIns="0" rIns="0" tIns="0" bIns="0">
            <a:spAutoFit/>
          </a:bodyPr>
          <a:lstStyle/>
          <a:p>
            <a:pPr algn="r">
              <a:lnSpc>
                <a:spcPct val="112000"/>
              </a:lnSpc>
            </a:pPr>
            <a:r>
              <a:rPr sz="1100" b="1" i="0" spc="130">
                <a:solidFill>
                  <a:srgbClr val="4B5768"/>
                </a:solidFill>
                <a:latin typeface="Calibri"/>
              </a:rPr>
              <a:t>01 · REGRESIÓN SIMPLE</a:t>
            </a:r>
          </a:p>
        </p:txBody>
      </p:sp>
      <p:sp>
        <p:nvSpPr>
          <p:cNvPr id="3" name="TextBox 2"/>
          <p:cNvSpPr txBox="1"/>
          <p:nvPr/>
        </p:nvSpPr>
        <p:spPr>
          <a:xfrm>
            <a:off x="685800" y="502920"/>
            <a:ext cx="10820095" cy="292608"/>
          </a:xfrm>
          <a:prstGeom prst="rect">
            <a:avLst/>
          </a:prstGeom>
          <a:noFill/>
        </p:spPr>
        <p:txBody>
          <a:bodyPr wrap="square" anchor="t" lIns="0" rIns="0" tIns="0" bIns="0">
            <a:spAutoFit/>
          </a:bodyPr>
          <a:lstStyle/>
          <a:p>
            <a:pPr algn="l">
              <a:lnSpc>
                <a:spcPct val="112000"/>
              </a:lnSpc>
            </a:pPr>
            <a:r>
              <a:rPr sz="1250" b="1" i="0" spc="200">
                <a:solidFill>
                  <a:srgbClr val="2E6F9E"/>
                </a:solidFill>
                <a:latin typeface="Calibri"/>
              </a:rPr>
              <a:t>MÍNIMOS CUADRADOS</a:t>
            </a:r>
          </a:p>
        </p:txBody>
      </p:sp>
      <p:sp>
        <p:nvSpPr>
          <p:cNvPr id="4" name="TextBox 3"/>
          <p:cNvSpPr txBox="1"/>
          <p:nvPr/>
        </p:nvSpPr>
        <p:spPr>
          <a:xfrm>
            <a:off x="685800" y="786384"/>
            <a:ext cx="10820095" cy="960120"/>
          </a:xfrm>
          <a:prstGeom prst="rect">
            <a:avLst/>
          </a:prstGeom>
          <a:noFill/>
        </p:spPr>
        <p:txBody>
          <a:bodyPr wrap="square" anchor="t" lIns="0" rIns="0" tIns="0" bIns="0">
            <a:spAutoFit/>
          </a:bodyPr>
          <a:lstStyle/>
          <a:p>
            <a:pPr algn="l">
              <a:lnSpc>
                <a:spcPct val="105000"/>
              </a:lnSpc>
            </a:pPr>
            <a:r>
              <a:rPr sz="3200" b="1" i="0">
                <a:solidFill>
                  <a:srgbClr val="16233F"/>
                </a:solidFill>
                <a:latin typeface="Cambria"/>
              </a:rPr>
              <a:t>Una recta que minimiza el error total</a:t>
            </a:r>
          </a:p>
        </p:txBody>
      </p:sp>
      <p:sp>
        <p:nvSpPr>
          <p:cNvPr id="5" name="TextBox 4"/>
          <p:cNvSpPr txBox="1"/>
          <p:nvPr/>
        </p:nvSpPr>
        <p:spPr>
          <a:xfrm>
            <a:off x="685800" y="1965960"/>
            <a:ext cx="3472586" cy="1325880"/>
          </a:xfrm>
          <a:prstGeom prst="rect">
            <a:avLst/>
          </a:prstGeom>
          <a:noFill/>
        </p:spPr>
        <p:txBody>
          <a:bodyPr wrap="square" anchor="t" lIns="0" rIns="0" tIns="0" bIns="0">
            <a:spAutoFit/>
          </a:bodyPr>
          <a:lstStyle/>
          <a:p>
            <a:pPr algn="l">
              <a:lnSpc>
                <a:spcPct val="132000"/>
              </a:lnSpc>
            </a:pPr>
            <a:r>
              <a:rPr sz="1700" b="0" i="0">
                <a:solidFill>
                  <a:srgbClr val="4B5768"/>
                </a:solidFill>
                <a:latin typeface="Calibri"/>
              </a:rPr>
              <a:t>El modelo Y ≈ β0 + β1X busca los coeficientes que hacen más pequeña la suma de errores al cuadrado (RSS) entre los datos y la recta.</a:t>
            </a:r>
          </a:p>
        </p:txBody>
      </p:sp>
      <p:sp>
        <p:nvSpPr>
          <p:cNvPr id="6" name="TextBox 5"/>
          <p:cNvSpPr txBox="1"/>
          <p:nvPr/>
        </p:nvSpPr>
        <p:spPr>
          <a:xfrm>
            <a:off x="685800" y="3383280"/>
            <a:ext cx="3472586" cy="1234440"/>
          </a:xfrm>
          <a:prstGeom prst="rect">
            <a:avLst/>
          </a:prstGeom>
          <a:noFill/>
        </p:spPr>
        <p:txBody>
          <a:bodyPr wrap="square" anchor="t" lIns="0" rIns="0" tIns="0" bIns="0">
            <a:spAutoFit/>
          </a:bodyPr>
          <a:lstStyle/>
          <a:p>
            <a:pPr algn="l">
              <a:lnSpc>
                <a:spcPct val="132000"/>
              </a:lnSpc>
            </a:pPr>
            <a:r>
              <a:rPr sz="1700" b="0" i="0">
                <a:solidFill>
                  <a:srgbClr val="4B5768"/>
                </a:solidFill>
                <a:latin typeface="Calibri"/>
              </a:rPr>
              <a:t>Con los datos de publicidad, la recta ajustada describe cómo cambian las ventas conforme sube la inversión en televisión.</a:t>
            </a:r>
          </a:p>
        </p:txBody>
      </p:sp>
      <p:sp>
        <p:nvSpPr>
          <p:cNvPr id="7" name="Rounded Rectangle 6"/>
          <p:cNvSpPr/>
          <p:nvPr/>
        </p:nvSpPr>
        <p:spPr>
          <a:xfrm>
            <a:off x="685800" y="4754880"/>
            <a:ext cx="3472586" cy="777240"/>
          </a:xfrm>
          <a:prstGeom prst="roundRect">
            <a:avLst>
              <a:gd name="adj" fmla="val 10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754880"/>
            <a:ext cx="3198266" cy="777240"/>
          </a:xfrm>
          <a:prstGeom prst="rect">
            <a:avLst/>
          </a:prstGeom>
          <a:noFill/>
        </p:spPr>
        <p:txBody>
          <a:bodyPr wrap="square" anchor="ctr" lIns="0" rIns="0" tIns="0" bIns="0">
            <a:spAutoFit/>
          </a:bodyPr>
          <a:lstStyle/>
          <a:p>
            <a:pPr algn="ctr">
              <a:lnSpc>
                <a:spcPct val="110000"/>
              </a:lnSpc>
            </a:pPr>
            <a:r>
              <a:rPr sz="1900" b="0" i="1">
                <a:solidFill>
                  <a:srgbClr val="16233F"/>
                </a:solidFill>
                <a:latin typeface="Cambria"/>
              </a:rPr>
              <a:t>ventas = 7.03 + 0.048 × TV</a:t>
            </a:r>
          </a:p>
        </p:txBody>
      </p:sp>
      <p:graphicFrame>
        <p:nvGraphicFramePr>
          <p:cNvPr id="9" name="Chart 8"/>
          <p:cNvGraphicFramePr>
            <a:graphicFrameLocks noGrp="1"/>
          </p:cNvGraphicFramePr>
          <p:nvPr/>
        </p:nvGraphicFramePr>
        <p:xfrm>
          <a:off x="4496714" y="1874519"/>
          <a:ext cx="7009181" cy="3794760"/>
        </p:xfrm>
        <a:graphic>
          <a:graphicData uri="http://schemas.openxmlformats.org/drawingml/2006/chart">
            <c:chart xmlns:c="http://schemas.openxmlformats.org/drawingml/2006/chart" r:id="rId2"/>
          </a:graphicData>
        </a:graphic>
      </p:graphicFrame>
      <p:sp>
        <p:nvSpPr>
          <p:cNvPr id="10" name="TextBox 9"/>
          <p:cNvSpPr txBox="1"/>
          <p:nvPr/>
        </p:nvSpPr>
        <p:spPr>
          <a:xfrm>
            <a:off x="685800" y="6473952"/>
            <a:ext cx="10820095" cy="274320"/>
          </a:xfrm>
          <a:prstGeom prst="rect">
            <a:avLst/>
          </a:prstGeom>
          <a:noFill/>
        </p:spPr>
        <p:txBody>
          <a:bodyPr wrap="square" anchor="t" lIns="0" rIns="0" tIns="0" bIns="0">
            <a:spAutoFit/>
          </a:bodyPr>
          <a:lstStyle/>
          <a:p>
            <a:pPr algn="l">
              <a:lnSpc>
                <a:spcPct val="112000"/>
              </a:lnSpc>
            </a:pPr>
            <a:r>
              <a:rPr sz="1050" b="0" i="1">
                <a:solidFill>
                  <a:srgbClr val="4B5768"/>
                </a:solidFill>
                <a:latin typeface="Calibri"/>
              </a:rPr>
              <a:t>Fuente: Advertising.csv, 200 observaciones.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8951747" y="530352"/>
            <a:ext cx="2554148" cy="274320"/>
          </a:xfrm>
          <a:prstGeom prst="rect">
            <a:avLst/>
          </a:prstGeom>
          <a:noFill/>
        </p:spPr>
        <p:txBody>
          <a:bodyPr wrap="square" anchor="t" lIns="0" rIns="0" tIns="0" bIns="0">
            <a:spAutoFit/>
          </a:bodyPr>
          <a:lstStyle/>
          <a:p>
            <a:pPr algn="r">
              <a:lnSpc>
                <a:spcPct val="112000"/>
              </a:lnSpc>
            </a:pPr>
            <a:r>
              <a:rPr sz="1100" b="1" i="0" spc="130">
                <a:solidFill>
                  <a:srgbClr val="4B5768"/>
                </a:solidFill>
                <a:latin typeface="Calibri"/>
              </a:rPr>
              <a:t>01 · REGRESIÓN SIMPLE</a:t>
            </a:r>
          </a:p>
        </p:txBody>
      </p:sp>
      <p:sp>
        <p:nvSpPr>
          <p:cNvPr id="3" name="TextBox 2"/>
          <p:cNvSpPr txBox="1"/>
          <p:nvPr/>
        </p:nvSpPr>
        <p:spPr>
          <a:xfrm>
            <a:off x="685800" y="502920"/>
            <a:ext cx="10820095" cy="292608"/>
          </a:xfrm>
          <a:prstGeom prst="rect">
            <a:avLst/>
          </a:prstGeom>
          <a:noFill/>
        </p:spPr>
        <p:txBody>
          <a:bodyPr wrap="square" anchor="t" lIns="0" rIns="0" tIns="0" bIns="0">
            <a:spAutoFit/>
          </a:bodyPr>
          <a:lstStyle/>
          <a:p>
            <a:pPr algn="l">
              <a:lnSpc>
                <a:spcPct val="112000"/>
              </a:lnSpc>
            </a:pPr>
            <a:r>
              <a:rPr sz="1250" b="1" i="0" spc="200">
                <a:solidFill>
                  <a:srgbClr val="2E6F9E"/>
                </a:solidFill>
                <a:latin typeface="Calibri"/>
              </a:rPr>
              <a:t>BONDAD DE AJUSTE</a:t>
            </a:r>
          </a:p>
        </p:txBody>
      </p:sp>
      <p:sp>
        <p:nvSpPr>
          <p:cNvPr id="4" name="TextBox 3"/>
          <p:cNvSpPr txBox="1"/>
          <p:nvPr/>
        </p:nvSpPr>
        <p:spPr>
          <a:xfrm>
            <a:off x="685800" y="786384"/>
            <a:ext cx="10820095" cy="960120"/>
          </a:xfrm>
          <a:prstGeom prst="rect">
            <a:avLst/>
          </a:prstGeom>
          <a:noFill/>
        </p:spPr>
        <p:txBody>
          <a:bodyPr wrap="square" anchor="t" lIns="0" rIns="0" tIns="0" bIns="0">
            <a:spAutoFit/>
          </a:bodyPr>
          <a:lstStyle/>
          <a:p>
            <a:pPr algn="l">
              <a:lnSpc>
                <a:spcPct val="105000"/>
              </a:lnSpc>
            </a:pPr>
            <a:r>
              <a:rPr sz="3200" b="1" i="0">
                <a:solidFill>
                  <a:srgbClr val="16233F"/>
                </a:solidFill>
                <a:latin typeface="Cambria"/>
              </a:rPr>
              <a:t>R² dice qué tanto explica el modelo — y no siempre es igual</a:t>
            </a:r>
          </a:p>
        </p:txBody>
      </p:sp>
      <p:sp>
        <p:nvSpPr>
          <p:cNvPr id="5" name="Rounded Rectangle 4"/>
          <p:cNvSpPr/>
          <p:nvPr/>
        </p:nvSpPr>
        <p:spPr>
          <a:xfrm>
            <a:off x="3900335" y="1810512"/>
            <a:ext cx="4391025" cy="457200"/>
          </a:xfrm>
          <a:prstGeom prst="roundRect">
            <a:avLst>
              <a:gd name="adj" fmla="val 10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037495" y="1810512"/>
            <a:ext cx="4116705" cy="457200"/>
          </a:xfrm>
          <a:prstGeom prst="rect">
            <a:avLst/>
          </a:prstGeom>
          <a:noFill/>
        </p:spPr>
        <p:txBody>
          <a:bodyPr wrap="square" anchor="ctr" lIns="0" rIns="0" tIns="0" bIns="0">
            <a:spAutoFit/>
          </a:bodyPr>
          <a:lstStyle/>
          <a:p>
            <a:pPr algn="ctr">
              <a:lnSpc>
                <a:spcPct val="110000"/>
              </a:lnSpc>
            </a:pPr>
            <a:r>
              <a:rPr sz="1600" b="0" i="1">
                <a:solidFill>
                  <a:srgbClr val="16233F"/>
                </a:solidFill>
                <a:latin typeface="Cambria"/>
              </a:rPr>
              <a:t>R² = 1 − RSS ⁄ TSS</a:t>
            </a:r>
          </a:p>
        </p:txBody>
      </p:sp>
      <p:sp>
        <p:nvSpPr>
          <p:cNvPr id="7" name="TextBox 6"/>
          <p:cNvSpPr txBox="1"/>
          <p:nvPr/>
        </p:nvSpPr>
        <p:spPr>
          <a:xfrm>
            <a:off x="685800" y="2514600"/>
            <a:ext cx="4850244" cy="960120"/>
          </a:xfrm>
          <a:prstGeom prst="rect">
            <a:avLst/>
          </a:prstGeom>
          <a:noFill/>
        </p:spPr>
        <p:txBody>
          <a:bodyPr wrap="square" anchor="t" lIns="0" rIns="0" tIns="0" bIns="0">
            <a:spAutoFit/>
          </a:bodyPr>
          <a:lstStyle/>
          <a:p>
            <a:pPr algn="l">
              <a:lnSpc>
                <a:spcPct val="100000"/>
              </a:lnSpc>
            </a:pPr>
            <a:r>
              <a:rPr sz="6800" b="1" i="0">
                <a:solidFill>
                  <a:srgbClr val="2E6F9E"/>
                </a:solidFill>
                <a:latin typeface="Cambria"/>
              </a:rPr>
              <a:t>97.04%</a:t>
            </a:r>
          </a:p>
        </p:txBody>
      </p:sp>
      <p:sp>
        <p:nvSpPr>
          <p:cNvPr id="8" name="TextBox 7"/>
          <p:cNvSpPr txBox="1"/>
          <p:nvPr/>
        </p:nvSpPr>
        <p:spPr>
          <a:xfrm>
            <a:off x="685800" y="3429000"/>
            <a:ext cx="4850244" cy="822960"/>
          </a:xfrm>
          <a:prstGeom prst="rect">
            <a:avLst/>
          </a:prstGeom>
          <a:noFill/>
        </p:spPr>
        <p:txBody>
          <a:bodyPr wrap="square" anchor="t" lIns="0" rIns="0" tIns="0" bIns="0">
            <a:spAutoFit/>
          </a:bodyPr>
          <a:lstStyle/>
          <a:p>
            <a:pPr algn="l">
              <a:lnSpc>
                <a:spcPct val="122000"/>
              </a:lnSpc>
            </a:pPr>
            <a:r>
              <a:rPr sz="1350" b="0" i="0">
                <a:solidFill>
                  <a:srgbClr val="4B5768"/>
                </a:solidFill>
                <a:latin typeface="Calibri"/>
              </a:rPr>
              <a:t>Datos sintéticos y = 2 + x + ruido (Lab R1).</a:t>
            </a:r>
          </a:p>
          <a:p>
            <a:pPr algn="l">
              <a:lnSpc>
                <a:spcPct val="122000"/>
              </a:lnSpc>
            </a:pPr>
            <a:r>
              <a:rPr sz="1350" b="0" i="0">
                <a:solidFill>
                  <a:srgbClr val="4B5768"/>
                </a:solidFill>
                <a:latin typeface="Calibri"/>
              </a:rPr>
              <a:t>Ajuste casi perfecto: casi toda la varianza</a:t>
            </a:r>
          </a:p>
          <a:p>
            <a:pPr algn="l">
              <a:lnSpc>
                <a:spcPct val="122000"/>
              </a:lnSpc>
            </a:pPr>
            <a:r>
              <a:rPr sz="1350" b="0" i="0">
                <a:solidFill>
                  <a:srgbClr val="4B5768"/>
                </a:solidFill>
                <a:latin typeface="Calibri"/>
              </a:rPr>
              <a:t>queda explicada por el modelo.</a:t>
            </a:r>
          </a:p>
        </p:txBody>
      </p:sp>
      <p:sp>
        <p:nvSpPr>
          <p:cNvPr id="9" name="Rectangle 8"/>
          <p:cNvSpPr/>
          <p:nvPr/>
        </p:nvSpPr>
        <p:spPr>
          <a:xfrm>
            <a:off x="6058666" y="2606040"/>
            <a:ext cx="15240" cy="292608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71963" y="2514600"/>
            <a:ext cx="4850244" cy="960120"/>
          </a:xfrm>
          <a:prstGeom prst="rect">
            <a:avLst/>
          </a:prstGeom>
          <a:noFill/>
        </p:spPr>
        <p:txBody>
          <a:bodyPr wrap="square" anchor="t" lIns="0" rIns="0" tIns="0" bIns="0">
            <a:spAutoFit/>
          </a:bodyPr>
          <a:lstStyle/>
          <a:p>
            <a:pPr algn="l">
              <a:lnSpc>
                <a:spcPct val="100000"/>
              </a:lnSpc>
            </a:pPr>
            <a:r>
              <a:rPr sz="6800" b="1" i="0">
                <a:solidFill>
                  <a:srgbClr val="E1962E"/>
                </a:solidFill>
                <a:latin typeface="Cambria"/>
              </a:rPr>
              <a:t>61.19%</a:t>
            </a:r>
          </a:p>
        </p:txBody>
      </p:sp>
      <p:sp>
        <p:nvSpPr>
          <p:cNvPr id="11" name="TextBox 10"/>
          <p:cNvSpPr txBox="1"/>
          <p:nvPr/>
        </p:nvSpPr>
        <p:spPr>
          <a:xfrm>
            <a:off x="6471963" y="3429000"/>
            <a:ext cx="4850244" cy="822960"/>
          </a:xfrm>
          <a:prstGeom prst="rect">
            <a:avLst/>
          </a:prstGeom>
          <a:noFill/>
        </p:spPr>
        <p:txBody>
          <a:bodyPr wrap="square" anchor="t" lIns="0" rIns="0" tIns="0" bIns="0">
            <a:spAutoFit/>
          </a:bodyPr>
          <a:lstStyle/>
          <a:p>
            <a:pPr algn="l">
              <a:lnSpc>
                <a:spcPct val="122000"/>
              </a:lnSpc>
            </a:pPr>
            <a:r>
              <a:rPr sz="1350" b="0" i="0">
                <a:solidFill>
                  <a:srgbClr val="4B5768"/>
                </a:solidFill>
                <a:latin typeface="Calibri"/>
              </a:rPr>
              <a:t>Ventas explicadas solo por TV (Advertising).</a:t>
            </a:r>
          </a:p>
          <a:p>
            <a:pPr algn="l">
              <a:lnSpc>
                <a:spcPct val="122000"/>
              </a:lnSpc>
            </a:pPr>
            <a:r>
              <a:rPr sz="1350" b="0" i="0">
                <a:solidFill>
                  <a:srgbClr val="4B5768"/>
                </a:solidFill>
                <a:latin typeface="Calibri"/>
              </a:rPr>
              <a:t>La relación es real, pero el fenómeno tiene</a:t>
            </a:r>
          </a:p>
          <a:p>
            <a:pPr algn="l">
              <a:lnSpc>
                <a:spcPct val="122000"/>
              </a:lnSpc>
            </a:pPr>
            <a:r>
              <a:rPr sz="1350" b="0" i="0">
                <a:solidFill>
                  <a:srgbClr val="4B5768"/>
                </a:solidFill>
                <a:latin typeface="Calibri"/>
              </a:rPr>
              <a:t>más ruido: falta información por incluir.</a:t>
            </a:r>
          </a:p>
        </p:txBody>
      </p:sp>
      <p:sp>
        <p:nvSpPr>
          <p:cNvPr id="12" name="Rounded Rectangle 11"/>
          <p:cNvSpPr/>
          <p:nvPr/>
        </p:nvSpPr>
        <p:spPr>
          <a:xfrm>
            <a:off x="685800" y="5623560"/>
            <a:ext cx="10820095" cy="594360"/>
          </a:xfrm>
          <a:prstGeom prst="roundRect">
            <a:avLst>
              <a:gd name="adj" fmla="val 10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623560"/>
            <a:ext cx="10362895" cy="594360"/>
          </a:xfrm>
          <a:prstGeom prst="rect">
            <a:avLst/>
          </a:prstGeom>
          <a:noFill/>
        </p:spPr>
        <p:txBody>
          <a:bodyPr wrap="square" anchor="ctr" lIns="0" rIns="0" tIns="0" bIns="0">
            <a:spAutoFit/>
          </a:bodyPr>
          <a:lstStyle/>
          <a:p>
            <a:pPr algn="l">
              <a:lnSpc>
                <a:spcPct val="112000"/>
              </a:lnSpc>
            </a:pPr>
            <a:r>
              <a:rPr sz="1450" b="0" i="1">
                <a:solidFill>
                  <a:srgbClr val="16233F"/>
                </a:solidFill>
                <a:latin typeface="Calibri"/>
              </a:rPr>
              <a:t>La diferencia muestra que R² depende de cuánto ruido tiene el fenómeno real, no solo de si el modelo está bien construido.</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6233F"/>
        </a:solidFill>
        <a:effectLst/>
      </p:bgPr>
    </p:bg>
    <p:spTree>
      <p:nvGrpSpPr>
        <p:cNvPr id="1" name=""/>
        <p:cNvGrpSpPr/>
        <p:nvPr/>
      </p:nvGrpSpPr>
      <p:grpSpPr/>
      <p:sp>
        <p:nvSpPr>
          <p:cNvPr id="2" name="TextBox 1"/>
          <p:cNvSpPr txBox="1"/>
          <p:nvPr/>
        </p:nvSpPr>
        <p:spPr>
          <a:xfrm>
            <a:off x="822960" y="1234440"/>
            <a:ext cx="5943600" cy="2834640"/>
          </a:xfrm>
          <a:prstGeom prst="rect">
            <a:avLst/>
          </a:prstGeom>
          <a:noFill/>
        </p:spPr>
        <p:txBody>
          <a:bodyPr wrap="square" anchor="t" lIns="0" rIns="0" tIns="0" bIns="0">
            <a:spAutoFit/>
          </a:bodyPr>
          <a:lstStyle/>
          <a:p>
            <a:pPr algn="l">
              <a:lnSpc>
                <a:spcPct val="100000"/>
              </a:lnSpc>
            </a:pPr>
            <a:r>
              <a:rPr sz="19000" b="1" i="0">
                <a:solidFill>
                  <a:srgbClr val="E1962E"/>
                </a:solidFill>
                <a:latin typeface="Cambria"/>
              </a:rPr>
              <a:t>02</a:t>
            </a:r>
          </a:p>
        </p:txBody>
      </p:sp>
      <p:sp>
        <p:nvSpPr>
          <p:cNvPr id="3" name="Rectangle 2"/>
          <p:cNvSpPr/>
          <p:nvPr/>
        </p:nvSpPr>
        <p:spPr>
          <a:xfrm>
            <a:off x="914400" y="4343400"/>
            <a:ext cx="640080" cy="20320"/>
          </a:xfrm>
          <a:prstGeom prst="rect">
            <a:avLst/>
          </a:prstGeom>
          <a:solidFill>
            <a:srgbClr val="E19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4526280"/>
            <a:ext cx="9601200" cy="914400"/>
          </a:xfrm>
          <a:prstGeom prst="rect">
            <a:avLst/>
          </a:prstGeom>
          <a:noFill/>
        </p:spPr>
        <p:txBody>
          <a:bodyPr wrap="square" anchor="t" lIns="0" rIns="0" tIns="0" bIns="0">
            <a:spAutoFit/>
          </a:bodyPr>
          <a:lstStyle/>
          <a:p>
            <a:pPr algn="l">
              <a:lnSpc>
                <a:spcPct val="112000"/>
              </a:lnSpc>
            </a:pPr>
            <a:r>
              <a:rPr sz="4000" b="1" i="0">
                <a:solidFill>
                  <a:srgbClr val="FFFFFF"/>
                </a:solidFill>
                <a:latin typeface="Cambria"/>
              </a:rPr>
              <a:t>¿Es significativa la relación?</a:t>
            </a:r>
          </a:p>
        </p:txBody>
      </p:sp>
      <p:sp>
        <p:nvSpPr>
          <p:cNvPr id="5" name="TextBox 4"/>
          <p:cNvSpPr txBox="1"/>
          <p:nvPr/>
        </p:nvSpPr>
        <p:spPr>
          <a:xfrm>
            <a:off x="868680" y="5349240"/>
            <a:ext cx="9144000" cy="822960"/>
          </a:xfrm>
          <a:prstGeom prst="rect">
            <a:avLst/>
          </a:prstGeom>
          <a:noFill/>
        </p:spPr>
        <p:txBody>
          <a:bodyPr wrap="square" anchor="t" lIns="0" rIns="0" tIns="0" bIns="0">
            <a:spAutoFit/>
          </a:bodyPr>
          <a:lstStyle/>
          <a:p>
            <a:pPr algn="l">
              <a:lnSpc>
                <a:spcPct val="130000"/>
              </a:lnSpc>
            </a:pPr>
            <a:r>
              <a:rPr sz="1850" b="0" i="0">
                <a:solidFill>
                  <a:srgbClr val="C9D3E0"/>
                </a:solidFill>
                <a:latin typeface="Calibri"/>
              </a:rPr>
              <a:t>De un coeficiente estimado a la certeza estadística.</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8951747" y="530352"/>
            <a:ext cx="2554148" cy="274320"/>
          </a:xfrm>
          <a:prstGeom prst="rect">
            <a:avLst/>
          </a:prstGeom>
          <a:noFill/>
        </p:spPr>
        <p:txBody>
          <a:bodyPr wrap="square" anchor="t" lIns="0" rIns="0" tIns="0" bIns="0">
            <a:spAutoFit/>
          </a:bodyPr>
          <a:lstStyle/>
          <a:p>
            <a:pPr algn="r">
              <a:lnSpc>
                <a:spcPct val="112000"/>
              </a:lnSpc>
            </a:pPr>
            <a:r>
              <a:rPr sz="1100" b="1" i="0" spc="130">
                <a:solidFill>
                  <a:srgbClr val="4B5768"/>
                </a:solidFill>
                <a:latin typeface="Calibri"/>
              </a:rPr>
              <a:t>02 · SIGNIFICANCIA</a:t>
            </a:r>
          </a:p>
        </p:txBody>
      </p:sp>
      <p:sp>
        <p:nvSpPr>
          <p:cNvPr id="3" name="TextBox 2"/>
          <p:cNvSpPr txBox="1"/>
          <p:nvPr/>
        </p:nvSpPr>
        <p:spPr>
          <a:xfrm>
            <a:off x="685800" y="502920"/>
            <a:ext cx="10820095" cy="292608"/>
          </a:xfrm>
          <a:prstGeom prst="rect">
            <a:avLst/>
          </a:prstGeom>
          <a:noFill/>
        </p:spPr>
        <p:txBody>
          <a:bodyPr wrap="square" anchor="t" lIns="0" rIns="0" tIns="0" bIns="0">
            <a:spAutoFit/>
          </a:bodyPr>
          <a:lstStyle/>
          <a:p>
            <a:pPr algn="l">
              <a:lnSpc>
                <a:spcPct val="112000"/>
              </a:lnSpc>
            </a:pPr>
            <a:r>
              <a:rPr sz="1250" b="1" i="0" spc="200">
                <a:solidFill>
                  <a:srgbClr val="2E6F9E"/>
                </a:solidFill>
                <a:latin typeface="Calibri"/>
              </a:rPr>
              <a:t>DE LA ESTIMACIÓN A LA DECISIÓN</a:t>
            </a:r>
          </a:p>
        </p:txBody>
      </p:sp>
      <p:sp>
        <p:nvSpPr>
          <p:cNvPr id="4" name="TextBox 3"/>
          <p:cNvSpPr txBox="1"/>
          <p:nvPr/>
        </p:nvSpPr>
        <p:spPr>
          <a:xfrm>
            <a:off x="685800" y="786384"/>
            <a:ext cx="10820095" cy="960120"/>
          </a:xfrm>
          <a:prstGeom prst="rect">
            <a:avLst/>
          </a:prstGeom>
          <a:noFill/>
        </p:spPr>
        <p:txBody>
          <a:bodyPr wrap="square" anchor="t" lIns="0" rIns="0" tIns="0" bIns="0">
            <a:spAutoFit/>
          </a:bodyPr>
          <a:lstStyle/>
          <a:p>
            <a:pPr algn="l">
              <a:lnSpc>
                <a:spcPct val="105000"/>
              </a:lnSpc>
            </a:pPr>
            <a:r>
              <a:rPr sz="3200" b="1" i="0">
                <a:solidFill>
                  <a:srgbClr val="16233F"/>
                </a:solidFill>
                <a:latin typeface="Cambria"/>
              </a:rPr>
              <a:t>De la pendiente estimada a una decisión estadística</a:t>
            </a:r>
          </a:p>
        </p:txBody>
      </p:sp>
      <p:sp>
        <p:nvSpPr>
          <p:cNvPr id="5" name="TextBox 4"/>
          <p:cNvSpPr txBox="1"/>
          <p:nvPr/>
        </p:nvSpPr>
        <p:spPr>
          <a:xfrm>
            <a:off x="685800" y="1572768"/>
            <a:ext cx="10820095" cy="457200"/>
          </a:xfrm>
          <a:prstGeom prst="rect">
            <a:avLst/>
          </a:prstGeom>
          <a:noFill/>
        </p:spPr>
        <p:txBody>
          <a:bodyPr wrap="square" anchor="t" lIns="0" rIns="0" tIns="0" bIns="0">
            <a:spAutoFit/>
          </a:bodyPr>
          <a:lstStyle/>
          <a:p>
            <a:pPr algn="l">
              <a:lnSpc>
                <a:spcPct val="112000"/>
              </a:lnSpc>
            </a:pPr>
            <a:r>
              <a:rPr sz="1500" b="0" i="0">
                <a:solidFill>
                  <a:srgbClr val="4B5768"/>
                </a:solidFill>
                <a:latin typeface="Calibri"/>
              </a:rPr>
              <a:t>Ejemplo con β1 de TV en el modelo de ventas.</a:t>
            </a:r>
          </a:p>
        </p:txBody>
      </p:sp>
      <p:sp>
        <p:nvSpPr>
          <p:cNvPr id="6" name="Rounded Rectangle 5"/>
          <p:cNvSpPr/>
          <p:nvPr/>
        </p:nvSpPr>
        <p:spPr>
          <a:xfrm>
            <a:off x="289407" y="2468880"/>
            <a:ext cx="1810512" cy="1600200"/>
          </a:xfrm>
          <a:prstGeom prst="roundRect">
            <a:avLst>
              <a:gd name="adj" fmla="val 8000"/>
            </a:avLst>
          </a:prstGeom>
          <a:solidFill>
            <a:srgbClr val="FFFFFF"/>
          </a:solidFill>
          <a:ln w="19050">
            <a:solidFill>
              <a:srgbClr val="2E6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99135" y="2688336"/>
            <a:ext cx="1591056" cy="502920"/>
          </a:xfrm>
          <a:prstGeom prst="rect">
            <a:avLst/>
          </a:prstGeom>
          <a:noFill/>
        </p:spPr>
        <p:txBody>
          <a:bodyPr wrap="square" anchor="t" lIns="0" rIns="0" tIns="0" bIns="0">
            <a:spAutoFit/>
          </a:bodyPr>
          <a:lstStyle/>
          <a:p>
            <a:pPr algn="ctr">
              <a:lnSpc>
                <a:spcPct val="112000"/>
              </a:lnSpc>
            </a:pPr>
            <a:r>
              <a:rPr sz="1250" b="1" i="0">
                <a:solidFill>
                  <a:srgbClr val="4B5768"/>
                </a:solidFill>
                <a:latin typeface="Calibri"/>
              </a:rPr>
              <a:t>Coeficiente</a:t>
            </a:r>
          </a:p>
        </p:txBody>
      </p:sp>
      <p:sp>
        <p:nvSpPr>
          <p:cNvPr id="8" name="TextBox 7"/>
          <p:cNvSpPr txBox="1"/>
          <p:nvPr/>
        </p:nvSpPr>
        <p:spPr>
          <a:xfrm>
            <a:off x="380847" y="3246120"/>
            <a:ext cx="1627632" cy="640080"/>
          </a:xfrm>
          <a:prstGeom prst="rect">
            <a:avLst/>
          </a:prstGeom>
          <a:noFill/>
        </p:spPr>
        <p:txBody>
          <a:bodyPr wrap="square" anchor="t" lIns="0" rIns="0" tIns="0" bIns="0">
            <a:spAutoFit/>
          </a:bodyPr>
          <a:lstStyle/>
          <a:p>
            <a:pPr algn="ctr">
              <a:lnSpc>
                <a:spcPct val="105000"/>
              </a:lnSpc>
            </a:pPr>
            <a:r>
              <a:rPr sz="1650" b="1" i="0">
                <a:solidFill>
                  <a:srgbClr val="16233F"/>
                </a:solidFill>
                <a:latin typeface="Cambria"/>
              </a:rPr>
              <a:t>β1 = 0.0475</a:t>
            </a:r>
          </a:p>
        </p:txBody>
      </p:sp>
      <p:sp>
        <p:nvSpPr>
          <p:cNvPr id="9" name="TextBox 8"/>
          <p:cNvSpPr txBox="1"/>
          <p:nvPr/>
        </p:nvSpPr>
        <p:spPr>
          <a:xfrm>
            <a:off x="2099919" y="3012948"/>
            <a:ext cx="640080" cy="512064"/>
          </a:xfrm>
          <a:prstGeom prst="rect">
            <a:avLst/>
          </a:prstGeom>
          <a:noFill/>
        </p:spPr>
        <p:txBody>
          <a:bodyPr wrap="square" anchor="ctr" lIns="0" rIns="0" tIns="0" bIns="0">
            <a:spAutoFit/>
          </a:bodyPr>
          <a:lstStyle/>
          <a:p>
            <a:pPr algn="ctr">
              <a:lnSpc>
                <a:spcPct val="112000"/>
              </a:lnSpc>
            </a:pPr>
            <a:r>
              <a:rPr sz="2600" b="1" i="0">
                <a:solidFill>
                  <a:srgbClr val="4B5768"/>
                </a:solidFill>
                <a:latin typeface="Calibri"/>
              </a:rPr>
              <a:t>→</a:t>
            </a:r>
          </a:p>
        </p:txBody>
      </p:sp>
      <p:sp>
        <p:nvSpPr>
          <p:cNvPr id="10" name="Rounded Rectangle 9"/>
          <p:cNvSpPr/>
          <p:nvPr/>
        </p:nvSpPr>
        <p:spPr>
          <a:xfrm>
            <a:off x="2739999" y="2468880"/>
            <a:ext cx="1810512" cy="1600200"/>
          </a:xfrm>
          <a:prstGeom prst="roundRect">
            <a:avLst>
              <a:gd name="adj" fmla="val 8000"/>
            </a:avLst>
          </a:prstGeom>
          <a:solidFill>
            <a:srgbClr val="FFFFFF"/>
          </a:solidFill>
          <a:ln w="19050">
            <a:solidFill>
              <a:srgbClr val="2E6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49727" y="2688336"/>
            <a:ext cx="1591056" cy="502920"/>
          </a:xfrm>
          <a:prstGeom prst="rect">
            <a:avLst/>
          </a:prstGeom>
          <a:noFill/>
        </p:spPr>
        <p:txBody>
          <a:bodyPr wrap="square" anchor="t" lIns="0" rIns="0" tIns="0" bIns="0">
            <a:spAutoFit/>
          </a:bodyPr>
          <a:lstStyle/>
          <a:p>
            <a:pPr algn="ctr">
              <a:lnSpc>
                <a:spcPct val="112000"/>
              </a:lnSpc>
            </a:pPr>
            <a:r>
              <a:rPr sz="1250" b="1" i="0">
                <a:solidFill>
                  <a:srgbClr val="4B5768"/>
                </a:solidFill>
                <a:latin typeface="Calibri"/>
              </a:rPr>
              <a:t>Error estándar</a:t>
            </a:r>
          </a:p>
        </p:txBody>
      </p:sp>
      <p:sp>
        <p:nvSpPr>
          <p:cNvPr id="12" name="TextBox 11"/>
          <p:cNvSpPr txBox="1"/>
          <p:nvPr/>
        </p:nvSpPr>
        <p:spPr>
          <a:xfrm>
            <a:off x="2831439" y="3246120"/>
            <a:ext cx="1627632" cy="640080"/>
          </a:xfrm>
          <a:prstGeom prst="rect">
            <a:avLst/>
          </a:prstGeom>
          <a:noFill/>
        </p:spPr>
        <p:txBody>
          <a:bodyPr wrap="square" anchor="t" lIns="0" rIns="0" tIns="0" bIns="0">
            <a:spAutoFit/>
          </a:bodyPr>
          <a:lstStyle/>
          <a:p>
            <a:pPr algn="ctr">
              <a:lnSpc>
                <a:spcPct val="105000"/>
              </a:lnSpc>
            </a:pPr>
            <a:r>
              <a:rPr sz="1650" b="1" i="0">
                <a:solidFill>
                  <a:srgbClr val="16233F"/>
                </a:solidFill>
                <a:latin typeface="Cambria"/>
              </a:rPr>
              <a:t>SE(β1) = 0.0027</a:t>
            </a:r>
          </a:p>
        </p:txBody>
      </p:sp>
      <p:sp>
        <p:nvSpPr>
          <p:cNvPr id="13" name="TextBox 12"/>
          <p:cNvSpPr txBox="1"/>
          <p:nvPr/>
        </p:nvSpPr>
        <p:spPr>
          <a:xfrm>
            <a:off x="4550511" y="3012948"/>
            <a:ext cx="640080" cy="512064"/>
          </a:xfrm>
          <a:prstGeom prst="rect">
            <a:avLst/>
          </a:prstGeom>
          <a:noFill/>
        </p:spPr>
        <p:txBody>
          <a:bodyPr wrap="square" anchor="ctr" lIns="0" rIns="0" tIns="0" bIns="0">
            <a:spAutoFit/>
          </a:bodyPr>
          <a:lstStyle/>
          <a:p>
            <a:pPr algn="ctr">
              <a:lnSpc>
                <a:spcPct val="112000"/>
              </a:lnSpc>
            </a:pPr>
            <a:r>
              <a:rPr sz="2600" b="1" i="0">
                <a:solidFill>
                  <a:srgbClr val="4B5768"/>
                </a:solidFill>
                <a:latin typeface="Calibri"/>
              </a:rPr>
              <a:t>→</a:t>
            </a:r>
          </a:p>
        </p:txBody>
      </p:sp>
      <p:sp>
        <p:nvSpPr>
          <p:cNvPr id="14" name="Rounded Rectangle 13"/>
          <p:cNvSpPr/>
          <p:nvPr/>
        </p:nvSpPr>
        <p:spPr>
          <a:xfrm>
            <a:off x="5190591" y="2468880"/>
            <a:ext cx="1810512" cy="1600200"/>
          </a:xfrm>
          <a:prstGeom prst="roundRect">
            <a:avLst>
              <a:gd name="adj" fmla="val 8000"/>
            </a:avLst>
          </a:prstGeom>
          <a:solidFill>
            <a:srgbClr val="FFFFFF"/>
          </a:solidFill>
          <a:ln w="19050">
            <a:solidFill>
              <a:srgbClr val="2E6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0319" y="2688336"/>
            <a:ext cx="1591056" cy="502920"/>
          </a:xfrm>
          <a:prstGeom prst="rect">
            <a:avLst/>
          </a:prstGeom>
          <a:noFill/>
        </p:spPr>
        <p:txBody>
          <a:bodyPr wrap="square" anchor="t" lIns="0" rIns="0" tIns="0" bIns="0">
            <a:spAutoFit/>
          </a:bodyPr>
          <a:lstStyle/>
          <a:p>
            <a:pPr algn="ctr">
              <a:lnSpc>
                <a:spcPct val="112000"/>
              </a:lnSpc>
            </a:pPr>
            <a:r>
              <a:rPr sz="1250" b="1" i="0">
                <a:solidFill>
                  <a:srgbClr val="4B5768"/>
                </a:solidFill>
                <a:latin typeface="Calibri"/>
              </a:rPr>
              <a:t>Intervalo 95%</a:t>
            </a:r>
          </a:p>
        </p:txBody>
      </p:sp>
      <p:sp>
        <p:nvSpPr>
          <p:cNvPr id="16" name="TextBox 15"/>
          <p:cNvSpPr txBox="1"/>
          <p:nvPr/>
        </p:nvSpPr>
        <p:spPr>
          <a:xfrm>
            <a:off x="5282031" y="3246120"/>
            <a:ext cx="1627632" cy="640080"/>
          </a:xfrm>
          <a:prstGeom prst="rect">
            <a:avLst/>
          </a:prstGeom>
          <a:noFill/>
        </p:spPr>
        <p:txBody>
          <a:bodyPr wrap="square" anchor="t" lIns="0" rIns="0" tIns="0" bIns="0">
            <a:spAutoFit/>
          </a:bodyPr>
          <a:lstStyle/>
          <a:p>
            <a:pPr algn="ctr">
              <a:lnSpc>
                <a:spcPct val="105000"/>
              </a:lnSpc>
            </a:pPr>
            <a:r>
              <a:rPr sz="1650" b="1" i="0">
                <a:solidFill>
                  <a:srgbClr val="16233F"/>
                </a:solidFill>
                <a:latin typeface="Cambria"/>
              </a:rPr>
              <a:t>[0.0422, 0.0529]</a:t>
            </a:r>
          </a:p>
        </p:txBody>
      </p:sp>
      <p:sp>
        <p:nvSpPr>
          <p:cNvPr id="17" name="TextBox 16"/>
          <p:cNvSpPr txBox="1"/>
          <p:nvPr/>
        </p:nvSpPr>
        <p:spPr>
          <a:xfrm>
            <a:off x="7001103" y="3012948"/>
            <a:ext cx="640080" cy="512064"/>
          </a:xfrm>
          <a:prstGeom prst="rect">
            <a:avLst/>
          </a:prstGeom>
          <a:noFill/>
        </p:spPr>
        <p:txBody>
          <a:bodyPr wrap="square" anchor="ctr" lIns="0" rIns="0" tIns="0" bIns="0">
            <a:spAutoFit/>
          </a:bodyPr>
          <a:lstStyle/>
          <a:p>
            <a:pPr algn="ctr">
              <a:lnSpc>
                <a:spcPct val="112000"/>
              </a:lnSpc>
            </a:pPr>
            <a:r>
              <a:rPr sz="2600" b="1" i="0">
                <a:solidFill>
                  <a:srgbClr val="4B5768"/>
                </a:solidFill>
                <a:latin typeface="Calibri"/>
              </a:rPr>
              <a:t>→</a:t>
            </a:r>
          </a:p>
        </p:txBody>
      </p:sp>
      <p:sp>
        <p:nvSpPr>
          <p:cNvPr id="18" name="Rounded Rectangle 17"/>
          <p:cNvSpPr/>
          <p:nvPr/>
        </p:nvSpPr>
        <p:spPr>
          <a:xfrm>
            <a:off x="7641183" y="2468880"/>
            <a:ext cx="1810512" cy="1600200"/>
          </a:xfrm>
          <a:prstGeom prst="roundRect">
            <a:avLst>
              <a:gd name="adj" fmla="val 8000"/>
            </a:avLst>
          </a:prstGeom>
          <a:solidFill>
            <a:srgbClr val="FFFFFF"/>
          </a:solidFill>
          <a:ln w="19050">
            <a:solidFill>
              <a:srgbClr val="2E6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50911" y="2688336"/>
            <a:ext cx="1591056" cy="502920"/>
          </a:xfrm>
          <a:prstGeom prst="rect">
            <a:avLst/>
          </a:prstGeom>
          <a:noFill/>
        </p:spPr>
        <p:txBody>
          <a:bodyPr wrap="square" anchor="t" lIns="0" rIns="0" tIns="0" bIns="0">
            <a:spAutoFit/>
          </a:bodyPr>
          <a:lstStyle/>
          <a:p>
            <a:pPr algn="ctr">
              <a:lnSpc>
                <a:spcPct val="112000"/>
              </a:lnSpc>
            </a:pPr>
            <a:r>
              <a:rPr sz="1250" b="1" i="0">
                <a:solidFill>
                  <a:srgbClr val="4B5768"/>
                </a:solidFill>
                <a:latin typeface="Calibri"/>
              </a:rPr>
              <a:t>Estadístico t</a:t>
            </a:r>
          </a:p>
        </p:txBody>
      </p:sp>
      <p:sp>
        <p:nvSpPr>
          <p:cNvPr id="20" name="TextBox 19"/>
          <p:cNvSpPr txBox="1"/>
          <p:nvPr/>
        </p:nvSpPr>
        <p:spPr>
          <a:xfrm>
            <a:off x="7732623" y="3246120"/>
            <a:ext cx="1627632" cy="640080"/>
          </a:xfrm>
          <a:prstGeom prst="rect">
            <a:avLst/>
          </a:prstGeom>
          <a:noFill/>
        </p:spPr>
        <p:txBody>
          <a:bodyPr wrap="square" anchor="t" lIns="0" rIns="0" tIns="0" bIns="0">
            <a:spAutoFit/>
          </a:bodyPr>
          <a:lstStyle/>
          <a:p>
            <a:pPr algn="ctr">
              <a:lnSpc>
                <a:spcPct val="105000"/>
              </a:lnSpc>
            </a:pPr>
            <a:r>
              <a:rPr sz="1650" b="1" i="0">
                <a:solidFill>
                  <a:srgbClr val="16233F"/>
                </a:solidFill>
                <a:latin typeface="Cambria"/>
              </a:rPr>
              <a:t>t = 17.67</a:t>
            </a:r>
          </a:p>
        </p:txBody>
      </p:sp>
      <p:sp>
        <p:nvSpPr>
          <p:cNvPr id="21" name="TextBox 20"/>
          <p:cNvSpPr txBox="1"/>
          <p:nvPr/>
        </p:nvSpPr>
        <p:spPr>
          <a:xfrm>
            <a:off x="9451695" y="3012948"/>
            <a:ext cx="640080" cy="512064"/>
          </a:xfrm>
          <a:prstGeom prst="rect">
            <a:avLst/>
          </a:prstGeom>
          <a:noFill/>
        </p:spPr>
        <p:txBody>
          <a:bodyPr wrap="square" anchor="ctr" lIns="0" rIns="0" tIns="0" bIns="0">
            <a:spAutoFit/>
          </a:bodyPr>
          <a:lstStyle/>
          <a:p>
            <a:pPr algn="ctr">
              <a:lnSpc>
                <a:spcPct val="112000"/>
              </a:lnSpc>
            </a:pPr>
            <a:r>
              <a:rPr sz="2600" b="1" i="0">
                <a:solidFill>
                  <a:srgbClr val="4B5768"/>
                </a:solidFill>
                <a:latin typeface="Calibri"/>
              </a:rPr>
              <a:t>→</a:t>
            </a:r>
          </a:p>
        </p:txBody>
      </p:sp>
      <p:sp>
        <p:nvSpPr>
          <p:cNvPr id="22" name="Rounded Rectangle 21"/>
          <p:cNvSpPr/>
          <p:nvPr/>
        </p:nvSpPr>
        <p:spPr>
          <a:xfrm>
            <a:off x="10091775" y="2468880"/>
            <a:ext cx="1810512" cy="1600200"/>
          </a:xfrm>
          <a:prstGeom prst="roundRect">
            <a:avLst>
              <a:gd name="adj" fmla="val 8000"/>
            </a:avLst>
          </a:prstGeom>
          <a:solidFill>
            <a:srgbClr val="FFFFFF"/>
          </a:solidFill>
          <a:ln w="19050">
            <a:solidFill>
              <a:srgbClr val="C144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201503" y="2688336"/>
            <a:ext cx="1591056" cy="502920"/>
          </a:xfrm>
          <a:prstGeom prst="rect">
            <a:avLst/>
          </a:prstGeom>
          <a:noFill/>
        </p:spPr>
        <p:txBody>
          <a:bodyPr wrap="square" anchor="t" lIns="0" rIns="0" tIns="0" bIns="0">
            <a:spAutoFit/>
          </a:bodyPr>
          <a:lstStyle/>
          <a:p>
            <a:pPr algn="ctr">
              <a:lnSpc>
                <a:spcPct val="112000"/>
              </a:lnSpc>
            </a:pPr>
            <a:r>
              <a:rPr sz="1250" b="1" i="0">
                <a:solidFill>
                  <a:srgbClr val="4B5768"/>
                </a:solidFill>
                <a:latin typeface="Calibri"/>
              </a:rPr>
              <a:t>p-value</a:t>
            </a:r>
          </a:p>
        </p:txBody>
      </p:sp>
      <p:sp>
        <p:nvSpPr>
          <p:cNvPr id="24" name="TextBox 23"/>
          <p:cNvSpPr txBox="1"/>
          <p:nvPr/>
        </p:nvSpPr>
        <p:spPr>
          <a:xfrm>
            <a:off x="10183215" y="3246120"/>
            <a:ext cx="1627632" cy="640080"/>
          </a:xfrm>
          <a:prstGeom prst="rect">
            <a:avLst/>
          </a:prstGeom>
          <a:noFill/>
        </p:spPr>
        <p:txBody>
          <a:bodyPr wrap="square" anchor="t" lIns="0" rIns="0" tIns="0" bIns="0">
            <a:spAutoFit/>
          </a:bodyPr>
          <a:lstStyle/>
          <a:p>
            <a:pPr algn="ctr">
              <a:lnSpc>
                <a:spcPct val="105000"/>
              </a:lnSpc>
            </a:pPr>
            <a:r>
              <a:rPr sz="1650" b="1" i="0">
                <a:solidFill>
                  <a:srgbClr val="16233F"/>
                </a:solidFill>
                <a:latin typeface="Cambria"/>
              </a:rPr>
              <a:t>p ≈ 0</a:t>
            </a:r>
          </a:p>
        </p:txBody>
      </p:sp>
      <p:sp>
        <p:nvSpPr>
          <p:cNvPr id="25" name="Rounded Rectangle 24"/>
          <p:cNvSpPr/>
          <p:nvPr/>
        </p:nvSpPr>
        <p:spPr>
          <a:xfrm>
            <a:off x="685800" y="4526280"/>
            <a:ext cx="10820095" cy="685800"/>
          </a:xfrm>
          <a:prstGeom prst="roundRect">
            <a:avLst>
              <a:gd name="adj" fmla="val 10000"/>
            </a:avLst>
          </a:prstGeom>
          <a:solidFill>
            <a:srgbClr val="16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4526280"/>
            <a:ext cx="10271455" cy="685800"/>
          </a:xfrm>
          <a:prstGeom prst="rect">
            <a:avLst/>
          </a:prstGeom>
          <a:noFill/>
        </p:spPr>
        <p:txBody>
          <a:bodyPr wrap="square" anchor="ctr" lIns="0" rIns="0" tIns="0" bIns="0">
            <a:spAutoFit/>
          </a:bodyPr>
          <a:lstStyle/>
          <a:p>
            <a:pPr algn="l">
              <a:lnSpc>
                <a:spcPct val="112000"/>
              </a:lnSpc>
            </a:pPr>
            <a:r>
              <a:rPr sz="1550" b="0" i="0">
                <a:solidFill>
                  <a:srgbClr val="FFFFFF"/>
                </a:solidFill>
                <a:latin typeface="Calibri"/>
              </a:rPr>
              <a:t>Con un p-value prácticamente cero, la evidencia contra H0: β1 = 0 es contundente: sí existe relación entre TV y ventas.</a:t>
            </a:r>
          </a:p>
        </p:txBody>
      </p:sp>
      <p:sp>
        <p:nvSpPr>
          <p:cNvPr id="27" name="TextBox 26"/>
          <p:cNvSpPr txBox="1"/>
          <p:nvPr/>
        </p:nvSpPr>
        <p:spPr>
          <a:xfrm>
            <a:off x="685800" y="5486400"/>
            <a:ext cx="10820095" cy="822960"/>
          </a:xfrm>
          <a:prstGeom prst="rect">
            <a:avLst/>
          </a:prstGeom>
          <a:noFill/>
        </p:spPr>
        <p:txBody>
          <a:bodyPr wrap="square" anchor="t" lIns="0" rIns="0" tIns="0" bIns="0">
            <a:spAutoFit/>
          </a:bodyPr>
          <a:lstStyle/>
          <a:p>
            <a:pPr algn="l">
              <a:lnSpc>
                <a:spcPct val="112000"/>
              </a:lnSpc>
            </a:pPr>
            <a:r>
              <a:rPr sz="1400" b="0" i="1">
                <a:solidFill>
                  <a:srgbClr val="4B5768"/>
                </a:solidFill>
                <a:latin typeface="Calibri"/>
              </a:rPr>
              <a:t>H0: no hay relación entre TV y ventas (β1 = 0)      H1: sí hay relación (β1 ≠ 0)</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8951747" y="530352"/>
            <a:ext cx="2554148" cy="274320"/>
          </a:xfrm>
          <a:prstGeom prst="rect">
            <a:avLst/>
          </a:prstGeom>
          <a:noFill/>
        </p:spPr>
        <p:txBody>
          <a:bodyPr wrap="square" anchor="t" lIns="0" rIns="0" tIns="0" bIns="0">
            <a:spAutoFit/>
          </a:bodyPr>
          <a:lstStyle/>
          <a:p>
            <a:pPr algn="r">
              <a:lnSpc>
                <a:spcPct val="112000"/>
              </a:lnSpc>
            </a:pPr>
            <a:r>
              <a:rPr sz="1100" b="1" i="0" spc="130">
                <a:solidFill>
                  <a:srgbClr val="4B5768"/>
                </a:solidFill>
                <a:latin typeface="Calibri"/>
              </a:rPr>
              <a:t>02 · SIGNIFICANCIA</a:t>
            </a:r>
          </a:p>
        </p:txBody>
      </p:sp>
      <p:sp>
        <p:nvSpPr>
          <p:cNvPr id="3" name="TextBox 2"/>
          <p:cNvSpPr txBox="1"/>
          <p:nvPr/>
        </p:nvSpPr>
        <p:spPr>
          <a:xfrm>
            <a:off x="685800" y="502920"/>
            <a:ext cx="10820095" cy="292608"/>
          </a:xfrm>
          <a:prstGeom prst="rect">
            <a:avLst/>
          </a:prstGeom>
          <a:noFill/>
        </p:spPr>
        <p:txBody>
          <a:bodyPr wrap="square" anchor="t" lIns="0" rIns="0" tIns="0" bIns="0">
            <a:spAutoFit/>
          </a:bodyPr>
          <a:lstStyle/>
          <a:p>
            <a:pPr algn="l">
              <a:lnSpc>
                <a:spcPct val="112000"/>
              </a:lnSpc>
            </a:pPr>
            <a:r>
              <a:rPr sz="1250" b="1" i="0" spc="200">
                <a:solidFill>
                  <a:srgbClr val="2E6F9E"/>
                </a:solidFill>
                <a:latin typeface="Calibri"/>
              </a:rPr>
              <a:t>TV VS RADIO VS PERIÓDICO</a:t>
            </a:r>
          </a:p>
        </p:txBody>
      </p:sp>
      <p:sp>
        <p:nvSpPr>
          <p:cNvPr id="4" name="TextBox 3"/>
          <p:cNvSpPr txBox="1"/>
          <p:nvPr/>
        </p:nvSpPr>
        <p:spPr>
          <a:xfrm>
            <a:off x="685800" y="786384"/>
            <a:ext cx="10820095" cy="960120"/>
          </a:xfrm>
          <a:prstGeom prst="rect">
            <a:avLst/>
          </a:prstGeom>
          <a:noFill/>
        </p:spPr>
        <p:txBody>
          <a:bodyPr wrap="square" anchor="t" lIns="0" rIns="0" tIns="0" bIns="0">
            <a:spAutoFit/>
          </a:bodyPr>
          <a:lstStyle/>
          <a:p>
            <a:pPr algn="l">
              <a:lnSpc>
                <a:spcPct val="105000"/>
              </a:lnSpc>
            </a:pPr>
            <a:r>
              <a:rPr sz="3200" b="1" i="0">
                <a:solidFill>
                  <a:srgbClr val="16233F"/>
                </a:solidFill>
                <a:latin typeface="Cambria"/>
              </a:rPr>
              <a:t>La televisión explica más del doble que la radio, y el periódico casi nada</a:t>
            </a:r>
          </a:p>
        </p:txBody>
      </p:sp>
      <p:graphicFrame>
        <p:nvGraphicFramePr>
          <p:cNvPr id="5" name="Chart 4"/>
          <p:cNvGraphicFramePr>
            <a:graphicFrameLocks noGrp="1"/>
          </p:cNvGraphicFramePr>
          <p:nvPr/>
        </p:nvGraphicFramePr>
        <p:xfrm>
          <a:off x="685800" y="1965960"/>
          <a:ext cx="6227902" cy="3337560"/>
        </p:xfrm>
        <a:graphic>
          <a:graphicData uri="http://schemas.openxmlformats.org/drawingml/2006/chart">
            <c:chart xmlns:c="http://schemas.openxmlformats.org/drawingml/2006/chart" r:id="rId2"/>
          </a:graphicData>
        </a:graphic>
      </p:graphicFrame>
      <p:sp>
        <p:nvSpPr>
          <p:cNvPr id="6" name="TextBox 5"/>
          <p:cNvSpPr txBox="1"/>
          <p:nvPr/>
        </p:nvSpPr>
        <p:spPr>
          <a:xfrm>
            <a:off x="7482246" y="1965960"/>
            <a:ext cx="4023649" cy="365760"/>
          </a:xfrm>
          <a:prstGeom prst="rect">
            <a:avLst/>
          </a:prstGeom>
          <a:noFill/>
        </p:spPr>
        <p:txBody>
          <a:bodyPr wrap="square" anchor="t" lIns="0" rIns="0" tIns="0" bIns="0">
            <a:spAutoFit/>
          </a:bodyPr>
          <a:lstStyle/>
          <a:p>
            <a:pPr algn="l">
              <a:lnSpc>
                <a:spcPct val="112000"/>
              </a:lnSpc>
            </a:pPr>
            <a:r>
              <a:rPr sz="1200" b="1" i="0" spc="130">
                <a:solidFill>
                  <a:srgbClr val="4B5768"/>
                </a:solidFill>
                <a:latin typeface="Calibri"/>
              </a:rPr>
              <a:t>SIGNIFICANCIA POR MEDIO</a:t>
            </a:r>
          </a:p>
        </p:txBody>
      </p:sp>
      <p:sp>
        <p:nvSpPr>
          <p:cNvPr id="7" name="Rounded Rectangle 6"/>
          <p:cNvSpPr/>
          <p:nvPr/>
        </p:nvSpPr>
        <p:spPr>
          <a:xfrm>
            <a:off x="7482246" y="2468880"/>
            <a:ext cx="4023649" cy="7315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82246" y="2468880"/>
            <a:ext cx="82296" cy="731520"/>
          </a:xfrm>
          <a:prstGeom prst="rect">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38278" y="2560320"/>
            <a:ext cx="3657889" cy="320040"/>
          </a:xfrm>
          <a:prstGeom prst="rect">
            <a:avLst/>
          </a:prstGeom>
          <a:noFill/>
        </p:spPr>
        <p:txBody>
          <a:bodyPr wrap="square" anchor="t" lIns="0" rIns="0" tIns="0" bIns="0">
            <a:spAutoFit/>
          </a:bodyPr>
          <a:lstStyle/>
          <a:p>
            <a:pPr algn="l">
              <a:lnSpc>
                <a:spcPct val="112000"/>
              </a:lnSpc>
            </a:pPr>
            <a:r>
              <a:rPr sz="1500" b="1" i="0">
                <a:solidFill>
                  <a:srgbClr val="16233F"/>
                </a:solidFill>
                <a:latin typeface="Cambria"/>
              </a:rPr>
              <a:t>TV</a:t>
            </a:r>
          </a:p>
        </p:txBody>
      </p:sp>
      <p:sp>
        <p:nvSpPr>
          <p:cNvPr id="10" name="TextBox 9"/>
          <p:cNvSpPr txBox="1"/>
          <p:nvPr/>
        </p:nvSpPr>
        <p:spPr>
          <a:xfrm>
            <a:off x="7738278" y="2871216"/>
            <a:ext cx="3657889" cy="292608"/>
          </a:xfrm>
          <a:prstGeom prst="rect">
            <a:avLst/>
          </a:prstGeom>
          <a:noFill/>
        </p:spPr>
        <p:txBody>
          <a:bodyPr wrap="square" anchor="t" lIns="0" rIns="0" tIns="0" bIns="0">
            <a:spAutoFit/>
          </a:bodyPr>
          <a:lstStyle/>
          <a:p>
            <a:pPr algn="l">
              <a:lnSpc>
                <a:spcPct val="112000"/>
              </a:lnSpc>
            </a:pPr>
            <a:r>
              <a:rPr sz="1300" b="0" i="0">
                <a:solidFill>
                  <a:srgbClr val="4B5768"/>
                </a:solidFill>
                <a:latin typeface="Calibri"/>
              </a:rPr>
              <a:t>t = 17.67    p ≈ 0</a:t>
            </a:r>
          </a:p>
        </p:txBody>
      </p:sp>
      <p:sp>
        <p:nvSpPr>
          <p:cNvPr id="11" name="Rounded Rectangle 10"/>
          <p:cNvSpPr/>
          <p:nvPr/>
        </p:nvSpPr>
        <p:spPr>
          <a:xfrm>
            <a:off x="7482246" y="3337560"/>
            <a:ext cx="4023649" cy="7315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82246" y="3337560"/>
            <a:ext cx="82296" cy="731520"/>
          </a:xfrm>
          <a:prstGeom prst="rect">
            <a:avLst/>
          </a:prstGeom>
          <a:solidFill>
            <a:srgbClr val="E19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38278" y="3429000"/>
            <a:ext cx="3657889" cy="320040"/>
          </a:xfrm>
          <a:prstGeom prst="rect">
            <a:avLst/>
          </a:prstGeom>
          <a:noFill/>
        </p:spPr>
        <p:txBody>
          <a:bodyPr wrap="square" anchor="t" lIns="0" rIns="0" tIns="0" bIns="0">
            <a:spAutoFit/>
          </a:bodyPr>
          <a:lstStyle/>
          <a:p>
            <a:pPr algn="l">
              <a:lnSpc>
                <a:spcPct val="112000"/>
              </a:lnSpc>
            </a:pPr>
            <a:r>
              <a:rPr sz="1500" b="1" i="0">
                <a:solidFill>
                  <a:srgbClr val="16233F"/>
                </a:solidFill>
                <a:latin typeface="Cambria"/>
              </a:rPr>
              <a:t>Radio</a:t>
            </a:r>
          </a:p>
        </p:txBody>
      </p:sp>
      <p:sp>
        <p:nvSpPr>
          <p:cNvPr id="14" name="TextBox 13"/>
          <p:cNvSpPr txBox="1"/>
          <p:nvPr/>
        </p:nvSpPr>
        <p:spPr>
          <a:xfrm>
            <a:off x="7738278" y="3739896"/>
            <a:ext cx="3657889" cy="292608"/>
          </a:xfrm>
          <a:prstGeom prst="rect">
            <a:avLst/>
          </a:prstGeom>
          <a:noFill/>
        </p:spPr>
        <p:txBody>
          <a:bodyPr wrap="square" anchor="t" lIns="0" rIns="0" tIns="0" bIns="0">
            <a:spAutoFit/>
          </a:bodyPr>
          <a:lstStyle/>
          <a:p>
            <a:pPr algn="l">
              <a:lnSpc>
                <a:spcPct val="112000"/>
              </a:lnSpc>
            </a:pPr>
            <a:r>
              <a:rPr sz="1300" b="0" i="0">
                <a:solidFill>
                  <a:srgbClr val="4B5768"/>
                </a:solidFill>
                <a:latin typeface="Calibri"/>
              </a:rPr>
              <a:t>t = 9.92    p ≈ 0</a:t>
            </a:r>
          </a:p>
        </p:txBody>
      </p:sp>
      <p:sp>
        <p:nvSpPr>
          <p:cNvPr id="15" name="Rounded Rectangle 14"/>
          <p:cNvSpPr/>
          <p:nvPr/>
        </p:nvSpPr>
        <p:spPr>
          <a:xfrm>
            <a:off x="7482246" y="4206240"/>
            <a:ext cx="4023649" cy="7315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82246" y="4206240"/>
            <a:ext cx="82296" cy="731520"/>
          </a:xfrm>
          <a:prstGeom prst="rect">
            <a:avLst/>
          </a:prstGeom>
          <a:solidFill>
            <a:srgbClr val="C14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38278" y="4297680"/>
            <a:ext cx="3657889" cy="320040"/>
          </a:xfrm>
          <a:prstGeom prst="rect">
            <a:avLst/>
          </a:prstGeom>
          <a:noFill/>
        </p:spPr>
        <p:txBody>
          <a:bodyPr wrap="square" anchor="t" lIns="0" rIns="0" tIns="0" bIns="0">
            <a:spAutoFit/>
          </a:bodyPr>
          <a:lstStyle/>
          <a:p>
            <a:pPr algn="l">
              <a:lnSpc>
                <a:spcPct val="112000"/>
              </a:lnSpc>
            </a:pPr>
            <a:r>
              <a:rPr sz="1500" b="1" i="0">
                <a:solidFill>
                  <a:srgbClr val="16233F"/>
                </a:solidFill>
                <a:latin typeface="Cambria"/>
              </a:rPr>
              <a:t>Periódico</a:t>
            </a:r>
          </a:p>
        </p:txBody>
      </p:sp>
      <p:sp>
        <p:nvSpPr>
          <p:cNvPr id="18" name="TextBox 17"/>
          <p:cNvSpPr txBox="1"/>
          <p:nvPr/>
        </p:nvSpPr>
        <p:spPr>
          <a:xfrm>
            <a:off x="7738278" y="4608576"/>
            <a:ext cx="3657889" cy="292608"/>
          </a:xfrm>
          <a:prstGeom prst="rect">
            <a:avLst/>
          </a:prstGeom>
          <a:noFill/>
        </p:spPr>
        <p:txBody>
          <a:bodyPr wrap="square" anchor="t" lIns="0" rIns="0" tIns="0" bIns="0">
            <a:spAutoFit/>
          </a:bodyPr>
          <a:lstStyle/>
          <a:p>
            <a:pPr algn="l">
              <a:lnSpc>
                <a:spcPct val="112000"/>
              </a:lnSpc>
            </a:pPr>
            <a:r>
              <a:rPr sz="1300" b="0" i="0">
                <a:solidFill>
                  <a:srgbClr val="4B5768"/>
                </a:solidFill>
                <a:latin typeface="Calibri"/>
              </a:rPr>
              <a:t>t = 3.30    p = 0.0011</a:t>
            </a:r>
          </a:p>
        </p:txBody>
      </p:sp>
      <p:sp>
        <p:nvSpPr>
          <p:cNvPr id="19" name="Rounded Rectangle 18"/>
          <p:cNvSpPr/>
          <p:nvPr/>
        </p:nvSpPr>
        <p:spPr>
          <a:xfrm>
            <a:off x="685800" y="5623560"/>
            <a:ext cx="10820095" cy="685800"/>
          </a:xfrm>
          <a:prstGeom prst="roundRect">
            <a:avLst>
              <a:gd name="adj" fmla="val 10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1832" y="5623560"/>
            <a:ext cx="10308031" cy="685800"/>
          </a:xfrm>
          <a:prstGeom prst="rect">
            <a:avLst/>
          </a:prstGeom>
          <a:noFill/>
        </p:spPr>
        <p:txBody>
          <a:bodyPr wrap="square" anchor="ctr" lIns="0" rIns="0" tIns="0" bIns="0">
            <a:spAutoFit/>
          </a:bodyPr>
          <a:lstStyle/>
          <a:p>
            <a:pPr algn="l">
              <a:lnSpc>
                <a:spcPct val="112000"/>
              </a:lnSpc>
            </a:pPr>
            <a:r>
              <a:rPr sz="1450" b="0" i="1">
                <a:solidFill>
                  <a:srgbClr val="16233F"/>
                </a:solidFill>
                <a:latin typeface="Calibri"/>
              </a:rPr>
              <a:t>Los tres p-values son menores a 0.05: cada medio, por separado, sí está asociado con las ventas — pero con una fuerza muy distinta.</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6233F"/>
        </a:solidFill>
        <a:effectLst/>
      </p:bgPr>
    </p:bg>
    <p:spTree>
      <p:nvGrpSpPr>
        <p:cNvPr id="1" name=""/>
        <p:cNvGrpSpPr/>
        <p:nvPr/>
      </p:nvGrpSpPr>
      <p:grpSpPr/>
      <p:sp>
        <p:nvSpPr>
          <p:cNvPr id="2" name="TextBox 1"/>
          <p:cNvSpPr txBox="1"/>
          <p:nvPr/>
        </p:nvSpPr>
        <p:spPr>
          <a:xfrm>
            <a:off x="822960" y="1234440"/>
            <a:ext cx="5943600" cy="2834640"/>
          </a:xfrm>
          <a:prstGeom prst="rect">
            <a:avLst/>
          </a:prstGeom>
          <a:noFill/>
        </p:spPr>
        <p:txBody>
          <a:bodyPr wrap="square" anchor="t" lIns="0" rIns="0" tIns="0" bIns="0">
            <a:spAutoFit/>
          </a:bodyPr>
          <a:lstStyle/>
          <a:p>
            <a:pPr algn="l">
              <a:lnSpc>
                <a:spcPct val="100000"/>
              </a:lnSpc>
            </a:pPr>
            <a:r>
              <a:rPr sz="19000" b="1" i="0">
                <a:solidFill>
                  <a:srgbClr val="E1962E"/>
                </a:solidFill>
                <a:latin typeface="Cambria"/>
              </a:rPr>
              <a:t>03</a:t>
            </a:r>
          </a:p>
        </p:txBody>
      </p:sp>
      <p:sp>
        <p:nvSpPr>
          <p:cNvPr id="3" name="Rectangle 2"/>
          <p:cNvSpPr/>
          <p:nvPr/>
        </p:nvSpPr>
        <p:spPr>
          <a:xfrm>
            <a:off x="914400" y="4343400"/>
            <a:ext cx="640080" cy="20320"/>
          </a:xfrm>
          <a:prstGeom prst="rect">
            <a:avLst/>
          </a:prstGeom>
          <a:solidFill>
            <a:srgbClr val="E19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4526280"/>
            <a:ext cx="9601200" cy="914400"/>
          </a:xfrm>
          <a:prstGeom prst="rect">
            <a:avLst/>
          </a:prstGeom>
          <a:noFill/>
        </p:spPr>
        <p:txBody>
          <a:bodyPr wrap="square" anchor="t" lIns="0" rIns="0" tIns="0" bIns="0">
            <a:spAutoFit/>
          </a:bodyPr>
          <a:lstStyle/>
          <a:p>
            <a:pPr algn="l">
              <a:lnSpc>
                <a:spcPct val="112000"/>
              </a:lnSpc>
            </a:pPr>
            <a:r>
              <a:rPr sz="4000" b="1" i="0">
                <a:solidFill>
                  <a:srgbClr val="FFFFFF"/>
                </a:solidFill>
                <a:latin typeface="Cambria"/>
              </a:rPr>
              <a:t>Regresión múltiple</a:t>
            </a:r>
          </a:p>
        </p:txBody>
      </p:sp>
      <p:sp>
        <p:nvSpPr>
          <p:cNvPr id="5" name="TextBox 4"/>
          <p:cNvSpPr txBox="1"/>
          <p:nvPr/>
        </p:nvSpPr>
        <p:spPr>
          <a:xfrm>
            <a:off x="868680" y="5349240"/>
            <a:ext cx="9144000" cy="822960"/>
          </a:xfrm>
          <a:prstGeom prst="rect">
            <a:avLst/>
          </a:prstGeom>
          <a:noFill/>
        </p:spPr>
        <p:txBody>
          <a:bodyPr wrap="square" anchor="t" lIns="0" rIns="0" tIns="0" bIns="0">
            <a:spAutoFit/>
          </a:bodyPr>
          <a:lstStyle/>
          <a:p>
            <a:pPr algn="l">
              <a:lnSpc>
                <a:spcPct val="130000"/>
              </a:lnSpc>
            </a:pPr>
            <a:r>
              <a:rPr sz="1850" b="0" i="0">
                <a:solidFill>
                  <a:srgbClr val="C9D3E0"/>
                </a:solidFill>
                <a:latin typeface="Calibri"/>
              </a:rPr>
              <a:t>¿Qué pasa si consideramos varias variables al mismo tiempo?</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8951747" y="530352"/>
            <a:ext cx="2554148" cy="274320"/>
          </a:xfrm>
          <a:prstGeom prst="rect">
            <a:avLst/>
          </a:prstGeom>
          <a:noFill/>
        </p:spPr>
        <p:txBody>
          <a:bodyPr wrap="square" anchor="t" lIns="0" rIns="0" tIns="0" bIns="0">
            <a:spAutoFit/>
          </a:bodyPr>
          <a:lstStyle/>
          <a:p>
            <a:pPr algn="r">
              <a:lnSpc>
                <a:spcPct val="112000"/>
              </a:lnSpc>
            </a:pPr>
            <a:r>
              <a:rPr sz="1100" b="1" i="0" spc="130">
                <a:solidFill>
                  <a:srgbClr val="4B5768"/>
                </a:solidFill>
                <a:latin typeface="Calibri"/>
              </a:rPr>
              <a:t>03 · REGRESIÓN MÚLTIPLE</a:t>
            </a:r>
          </a:p>
        </p:txBody>
      </p:sp>
      <p:sp>
        <p:nvSpPr>
          <p:cNvPr id="3" name="TextBox 2"/>
          <p:cNvSpPr txBox="1"/>
          <p:nvPr/>
        </p:nvSpPr>
        <p:spPr>
          <a:xfrm>
            <a:off x="685800" y="502920"/>
            <a:ext cx="10820095" cy="292608"/>
          </a:xfrm>
          <a:prstGeom prst="rect">
            <a:avLst/>
          </a:prstGeom>
          <a:noFill/>
        </p:spPr>
        <p:txBody>
          <a:bodyPr wrap="square" anchor="t" lIns="0" rIns="0" tIns="0" bIns="0">
            <a:spAutoFit/>
          </a:bodyPr>
          <a:lstStyle/>
          <a:p>
            <a:pPr algn="l">
              <a:lnSpc>
                <a:spcPct val="112000"/>
              </a:lnSpc>
            </a:pPr>
            <a:r>
              <a:rPr sz="1250" b="1" i="0" spc="200">
                <a:solidFill>
                  <a:srgbClr val="2E6F9E"/>
                </a:solidFill>
                <a:latin typeface="Calibri"/>
              </a:rPr>
              <a:t>UN MODELO, TRES VARIABLES</a:t>
            </a:r>
          </a:p>
        </p:txBody>
      </p:sp>
      <p:sp>
        <p:nvSpPr>
          <p:cNvPr id="4" name="TextBox 3"/>
          <p:cNvSpPr txBox="1"/>
          <p:nvPr/>
        </p:nvSpPr>
        <p:spPr>
          <a:xfrm>
            <a:off x="685800" y="786384"/>
            <a:ext cx="10820095" cy="960120"/>
          </a:xfrm>
          <a:prstGeom prst="rect">
            <a:avLst/>
          </a:prstGeom>
          <a:noFill/>
        </p:spPr>
        <p:txBody>
          <a:bodyPr wrap="square" anchor="t" lIns="0" rIns="0" tIns="0" bIns="0">
            <a:spAutoFit/>
          </a:bodyPr>
          <a:lstStyle/>
          <a:p>
            <a:pPr algn="l">
              <a:lnSpc>
                <a:spcPct val="105000"/>
              </a:lnSpc>
            </a:pPr>
            <a:r>
              <a:rPr sz="3200" b="1" i="0">
                <a:solidFill>
                  <a:srgbClr val="16233F"/>
                </a:solidFill>
                <a:latin typeface="Cambria"/>
              </a:rPr>
              <a:t>Juntar los tres medios sube el ajuste de 61% a 90%</a:t>
            </a:r>
          </a:p>
        </p:txBody>
      </p:sp>
      <p:sp>
        <p:nvSpPr>
          <p:cNvPr id="5" name="Rounded Rectangle 4"/>
          <p:cNvSpPr/>
          <p:nvPr/>
        </p:nvSpPr>
        <p:spPr>
          <a:xfrm>
            <a:off x="685800" y="1828800"/>
            <a:ext cx="10820095" cy="777240"/>
          </a:xfrm>
          <a:prstGeom prst="roundRect">
            <a:avLst>
              <a:gd name="adj" fmla="val 10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28800"/>
            <a:ext cx="10545775" cy="777240"/>
          </a:xfrm>
          <a:prstGeom prst="rect">
            <a:avLst/>
          </a:prstGeom>
          <a:noFill/>
        </p:spPr>
        <p:txBody>
          <a:bodyPr wrap="square" anchor="ctr" lIns="0" rIns="0" tIns="0" bIns="0">
            <a:spAutoFit/>
          </a:bodyPr>
          <a:lstStyle/>
          <a:p>
            <a:pPr algn="ctr">
              <a:lnSpc>
                <a:spcPct val="110000"/>
              </a:lnSpc>
            </a:pPr>
            <a:r>
              <a:rPr sz="2000" b="0" i="1">
                <a:solidFill>
                  <a:srgbClr val="16233F"/>
                </a:solidFill>
                <a:latin typeface="Cambria"/>
              </a:rPr>
              <a:t>ventas = 2.939 + 0.046(TV) + 0.189(radio) − 0.001(periódico)</a:t>
            </a:r>
          </a:p>
        </p:txBody>
      </p:sp>
      <p:sp>
        <p:nvSpPr>
          <p:cNvPr id="7" name="TextBox 6"/>
          <p:cNvSpPr txBox="1"/>
          <p:nvPr/>
        </p:nvSpPr>
        <p:spPr>
          <a:xfrm>
            <a:off x="685800" y="2971800"/>
            <a:ext cx="3105211" cy="960120"/>
          </a:xfrm>
          <a:prstGeom prst="rect">
            <a:avLst/>
          </a:prstGeom>
          <a:noFill/>
        </p:spPr>
        <p:txBody>
          <a:bodyPr wrap="square" anchor="t" lIns="0" rIns="0" tIns="0" bIns="0">
            <a:spAutoFit/>
          </a:bodyPr>
          <a:lstStyle/>
          <a:p>
            <a:pPr algn="l">
              <a:lnSpc>
                <a:spcPct val="100000"/>
              </a:lnSpc>
            </a:pPr>
            <a:r>
              <a:rPr sz="5400" b="1" i="0">
                <a:solidFill>
                  <a:srgbClr val="2E6F9E"/>
                </a:solidFill>
                <a:latin typeface="Cambria"/>
              </a:rPr>
              <a:t>0.897</a:t>
            </a:r>
          </a:p>
        </p:txBody>
      </p:sp>
      <p:sp>
        <p:nvSpPr>
          <p:cNvPr id="8" name="TextBox 7"/>
          <p:cNvSpPr txBox="1"/>
          <p:nvPr/>
        </p:nvSpPr>
        <p:spPr>
          <a:xfrm>
            <a:off x="685800" y="3886200"/>
            <a:ext cx="3105211" cy="822960"/>
          </a:xfrm>
          <a:prstGeom prst="rect">
            <a:avLst/>
          </a:prstGeom>
          <a:noFill/>
        </p:spPr>
        <p:txBody>
          <a:bodyPr wrap="square" anchor="t" lIns="0" rIns="0" tIns="0" bIns="0">
            <a:spAutoFit/>
          </a:bodyPr>
          <a:lstStyle/>
          <a:p>
            <a:pPr algn="l">
              <a:lnSpc>
                <a:spcPct val="122000"/>
              </a:lnSpc>
            </a:pPr>
            <a:r>
              <a:rPr sz="1350" b="0" i="0">
                <a:solidFill>
                  <a:srgbClr val="4B5768"/>
                </a:solidFill>
                <a:latin typeface="Calibri"/>
              </a:rPr>
              <a:t>R² del modelo completo</a:t>
            </a:r>
          </a:p>
          <a:p>
            <a:pPr algn="l">
              <a:lnSpc>
                <a:spcPct val="122000"/>
              </a:lnSpc>
            </a:pPr>
            <a:r>
              <a:rPr sz="1350" b="0" i="0">
                <a:solidFill>
                  <a:srgbClr val="4B5768"/>
                </a:solidFill>
                <a:latin typeface="Calibri"/>
              </a:rPr>
              <a:t>(F = 570.3, p ≈ 0)</a:t>
            </a:r>
          </a:p>
        </p:txBody>
      </p:sp>
      <p:sp>
        <p:nvSpPr>
          <p:cNvPr id="9" name="TextBox 8"/>
          <p:cNvSpPr txBox="1"/>
          <p:nvPr/>
        </p:nvSpPr>
        <p:spPr>
          <a:xfrm>
            <a:off x="4451398" y="2971800"/>
            <a:ext cx="7054497" cy="365760"/>
          </a:xfrm>
          <a:prstGeom prst="rect">
            <a:avLst/>
          </a:prstGeom>
          <a:noFill/>
        </p:spPr>
        <p:txBody>
          <a:bodyPr wrap="square" anchor="t" lIns="0" rIns="0" tIns="0" bIns="0">
            <a:spAutoFit/>
          </a:bodyPr>
          <a:lstStyle/>
          <a:p>
            <a:pPr algn="l">
              <a:lnSpc>
                <a:spcPct val="112000"/>
              </a:lnSpc>
            </a:pPr>
            <a:r>
              <a:rPr sz="1200" b="1" i="0" spc="120">
                <a:solidFill>
                  <a:srgbClr val="4B5768"/>
                </a:solidFill>
                <a:latin typeface="Calibri"/>
              </a:rPr>
              <a:t>R² DE CADA REGRESIÓN SIMPLE, PARA COMPARAR</a:t>
            </a:r>
          </a:p>
        </p:txBody>
      </p:sp>
      <p:sp>
        <p:nvSpPr>
          <p:cNvPr id="10" name="Rounded Rectangle 9"/>
          <p:cNvSpPr/>
          <p:nvPr/>
        </p:nvSpPr>
        <p:spPr>
          <a:xfrm>
            <a:off x="4451398" y="3383280"/>
            <a:ext cx="2229579" cy="105156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51398" y="3502152"/>
            <a:ext cx="2229579" cy="502920"/>
          </a:xfrm>
          <a:prstGeom prst="rect">
            <a:avLst/>
          </a:prstGeom>
          <a:noFill/>
        </p:spPr>
        <p:txBody>
          <a:bodyPr wrap="square" anchor="t" lIns="0" rIns="0" tIns="0" bIns="0">
            <a:spAutoFit/>
          </a:bodyPr>
          <a:lstStyle/>
          <a:p>
            <a:pPr algn="ctr">
              <a:lnSpc>
                <a:spcPct val="112000"/>
              </a:lnSpc>
            </a:pPr>
            <a:r>
              <a:rPr sz="2600" b="1" i="0">
                <a:solidFill>
                  <a:srgbClr val="2E6F9E"/>
                </a:solidFill>
                <a:latin typeface="Cambria"/>
              </a:rPr>
              <a:t>0.612</a:t>
            </a:r>
          </a:p>
        </p:txBody>
      </p:sp>
      <p:sp>
        <p:nvSpPr>
          <p:cNvPr id="12" name="TextBox 11"/>
          <p:cNvSpPr txBox="1"/>
          <p:nvPr/>
        </p:nvSpPr>
        <p:spPr>
          <a:xfrm>
            <a:off x="4451398" y="3959352"/>
            <a:ext cx="2229579" cy="365760"/>
          </a:xfrm>
          <a:prstGeom prst="rect">
            <a:avLst/>
          </a:prstGeom>
          <a:noFill/>
        </p:spPr>
        <p:txBody>
          <a:bodyPr wrap="square" anchor="t" lIns="0" rIns="0" tIns="0" bIns="0">
            <a:spAutoFit/>
          </a:bodyPr>
          <a:lstStyle/>
          <a:p>
            <a:pPr algn="ctr">
              <a:lnSpc>
                <a:spcPct val="112000"/>
              </a:lnSpc>
            </a:pPr>
            <a:r>
              <a:rPr sz="1250" b="0" i="0">
                <a:solidFill>
                  <a:srgbClr val="4B5768"/>
                </a:solidFill>
                <a:latin typeface="Calibri"/>
              </a:rPr>
              <a:t>TV solo</a:t>
            </a:r>
          </a:p>
        </p:txBody>
      </p:sp>
      <p:sp>
        <p:nvSpPr>
          <p:cNvPr id="13" name="Rounded Rectangle 12"/>
          <p:cNvSpPr/>
          <p:nvPr/>
        </p:nvSpPr>
        <p:spPr>
          <a:xfrm>
            <a:off x="6863857" y="3383280"/>
            <a:ext cx="2229579" cy="105156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63857" y="3502152"/>
            <a:ext cx="2229579" cy="502920"/>
          </a:xfrm>
          <a:prstGeom prst="rect">
            <a:avLst/>
          </a:prstGeom>
          <a:noFill/>
        </p:spPr>
        <p:txBody>
          <a:bodyPr wrap="square" anchor="t" lIns="0" rIns="0" tIns="0" bIns="0">
            <a:spAutoFit/>
          </a:bodyPr>
          <a:lstStyle/>
          <a:p>
            <a:pPr algn="ctr">
              <a:lnSpc>
                <a:spcPct val="112000"/>
              </a:lnSpc>
            </a:pPr>
            <a:r>
              <a:rPr sz="2600" b="1" i="0">
                <a:solidFill>
                  <a:srgbClr val="E1962E"/>
                </a:solidFill>
                <a:latin typeface="Cambria"/>
              </a:rPr>
              <a:t>0.332</a:t>
            </a:r>
          </a:p>
        </p:txBody>
      </p:sp>
      <p:sp>
        <p:nvSpPr>
          <p:cNvPr id="15" name="TextBox 14"/>
          <p:cNvSpPr txBox="1"/>
          <p:nvPr/>
        </p:nvSpPr>
        <p:spPr>
          <a:xfrm>
            <a:off x="6863857" y="3959352"/>
            <a:ext cx="2229579" cy="365760"/>
          </a:xfrm>
          <a:prstGeom prst="rect">
            <a:avLst/>
          </a:prstGeom>
          <a:noFill/>
        </p:spPr>
        <p:txBody>
          <a:bodyPr wrap="square" anchor="t" lIns="0" rIns="0" tIns="0" bIns="0">
            <a:spAutoFit/>
          </a:bodyPr>
          <a:lstStyle/>
          <a:p>
            <a:pPr algn="ctr">
              <a:lnSpc>
                <a:spcPct val="112000"/>
              </a:lnSpc>
            </a:pPr>
            <a:r>
              <a:rPr sz="1250" b="0" i="0">
                <a:solidFill>
                  <a:srgbClr val="4B5768"/>
                </a:solidFill>
                <a:latin typeface="Calibri"/>
              </a:rPr>
              <a:t>Radio solo</a:t>
            </a:r>
          </a:p>
        </p:txBody>
      </p:sp>
      <p:sp>
        <p:nvSpPr>
          <p:cNvPr id="16" name="Rounded Rectangle 15"/>
          <p:cNvSpPr/>
          <p:nvPr/>
        </p:nvSpPr>
        <p:spPr>
          <a:xfrm>
            <a:off x="9276316" y="3383280"/>
            <a:ext cx="2229579" cy="105156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76316" y="3502152"/>
            <a:ext cx="2229579" cy="502920"/>
          </a:xfrm>
          <a:prstGeom prst="rect">
            <a:avLst/>
          </a:prstGeom>
          <a:noFill/>
        </p:spPr>
        <p:txBody>
          <a:bodyPr wrap="square" anchor="t" lIns="0" rIns="0" tIns="0" bIns="0">
            <a:spAutoFit/>
          </a:bodyPr>
          <a:lstStyle/>
          <a:p>
            <a:pPr algn="ctr">
              <a:lnSpc>
                <a:spcPct val="112000"/>
              </a:lnSpc>
            </a:pPr>
            <a:r>
              <a:rPr sz="2600" b="1" i="0">
                <a:solidFill>
                  <a:srgbClr val="C1443C"/>
                </a:solidFill>
                <a:latin typeface="Cambria"/>
              </a:rPr>
              <a:t>0.052</a:t>
            </a:r>
          </a:p>
        </p:txBody>
      </p:sp>
      <p:sp>
        <p:nvSpPr>
          <p:cNvPr id="18" name="TextBox 17"/>
          <p:cNvSpPr txBox="1"/>
          <p:nvPr/>
        </p:nvSpPr>
        <p:spPr>
          <a:xfrm>
            <a:off x="9276316" y="3959352"/>
            <a:ext cx="2229579" cy="365760"/>
          </a:xfrm>
          <a:prstGeom prst="rect">
            <a:avLst/>
          </a:prstGeom>
          <a:noFill/>
        </p:spPr>
        <p:txBody>
          <a:bodyPr wrap="square" anchor="t" lIns="0" rIns="0" tIns="0" bIns="0">
            <a:spAutoFit/>
          </a:bodyPr>
          <a:lstStyle/>
          <a:p>
            <a:pPr algn="ctr">
              <a:lnSpc>
                <a:spcPct val="112000"/>
              </a:lnSpc>
            </a:pPr>
            <a:r>
              <a:rPr sz="1250" b="0" i="0">
                <a:solidFill>
                  <a:srgbClr val="4B5768"/>
                </a:solidFill>
                <a:latin typeface="Calibri"/>
              </a:rPr>
              <a:t>Periódico solo</a:t>
            </a:r>
          </a:p>
        </p:txBody>
      </p:sp>
      <p:sp>
        <p:nvSpPr>
          <p:cNvPr id="19" name="Rounded Rectangle 18"/>
          <p:cNvSpPr/>
          <p:nvPr/>
        </p:nvSpPr>
        <p:spPr>
          <a:xfrm>
            <a:off x="685800" y="4892040"/>
            <a:ext cx="10820095" cy="1051560"/>
          </a:xfrm>
          <a:prstGeom prst="roundRect">
            <a:avLst>
              <a:gd name="adj" fmla="val 8000"/>
            </a:avLst>
          </a:prstGeom>
          <a:solidFill>
            <a:srgbClr val="16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029200"/>
            <a:ext cx="10271455" cy="320040"/>
          </a:xfrm>
          <a:prstGeom prst="rect">
            <a:avLst/>
          </a:prstGeom>
          <a:noFill/>
        </p:spPr>
        <p:txBody>
          <a:bodyPr wrap="square" anchor="t" lIns="0" rIns="0" tIns="0" bIns="0">
            <a:spAutoFit/>
          </a:bodyPr>
          <a:lstStyle/>
          <a:p>
            <a:pPr algn="l">
              <a:lnSpc>
                <a:spcPct val="112000"/>
              </a:lnSpc>
            </a:pPr>
            <a:r>
              <a:rPr sz="1200" b="1" i="0" spc="150">
                <a:solidFill>
                  <a:srgbClr val="E1962E"/>
                </a:solidFill>
                <a:latin typeface="Calibri"/>
              </a:rPr>
              <a:t>SEÑAL DE ALERTA</a:t>
            </a:r>
          </a:p>
        </p:txBody>
      </p:sp>
      <p:sp>
        <p:nvSpPr>
          <p:cNvPr id="21" name="TextBox 20"/>
          <p:cNvSpPr txBox="1"/>
          <p:nvPr/>
        </p:nvSpPr>
        <p:spPr>
          <a:xfrm>
            <a:off x="960120" y="5321808"/>
            <a:ext cx="10271455" cy="548640"/>
          </a:xfrm>
          <a:prstGeom prst="rect">
            <a:avLst/>
          </a:prstGeom>
          <a:noFill/>
        </p:spPr>
        <p:txBody>
          <a:bodyPr wrap="square" anchor="t" lIns="0" rIns="0" tIns="0" bIns="0">
            <a:spAutoFit/>
          </a:bodyPr>
          <a:lstStyle/>
          <a:p>
            <a:pPr algn="l">
              <a:lnSpc>
                <a:spcPct val="120000"/>
              </a:lnSpc>
            </a:pPr>
            <a:r>
              <a:rPr sz="1450" b="0" i="0">
                <a:solidFill>
                  <a:srgbClr val="FFFFFF"/>
                </a:solidFill>
                <a:latin typeface="Calibri"/>
              </a:rPr>
              <a:t>El coeficiente de periódico cae a −0.001, prácticamente nulo: solo, parecía aportar; junto con los demás, ya no.</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8951747" y="530352"/>
            <a:ext cx="2554148" cy="274320"/>
          </a:xfrm>
          <a:prstGeom prst="rect">
            <a:avLst/>
          </a:prstGeom>
          <a:noFill/>
        </p:spPr>
        <p:txBody>
          <a:bodyPr wrap="square" anchor="t" lIns="0" rIns="0" tIns="0" bIns="0">
            <a:spAutoFit/>
          </a:bodyPr>
          <a:lstStyle/>
          <a:p>
            <a:pPr algn="r">
              <a:lnSpc>
                <a:spcPct val="112000"/>
              </a:lnSpc>
            </a:pPr>
            <a:r>
              <a:rPr sz="1100" b="1" i="0" spc="130">
                <a:solidFill>
                  <a:srgbClr val="4B5768"/>
                </a:solidFill>
                <a:latin typeface="Calibri"/>
              </a:rPr>
              <a:t>03 · REGRESIÓN MÚLTIPLE</a:t>
            </a:r>
          </a:p>
        </p:txBody>
      </p:sp>
      <p:sp>
        <p:nvSpPr>
          <p:cNvPr id="3" name="TextBox 2"/>
          <p:cNvSpPr txBox="1"/>
          <p:nvPr/>
        </p:nvSpPr>
        <p:spPr>
          <a:xfrm>
            <a:off x="685800" y="502920"/>
            <a:ext cx="10820095" cy="292608"/>
          </a:xfrm>
          <a:prstGeom prst="rect">
            <a:avLst/>
          </a:prstGeom>
          <a:noFill/>
        </p:spPr>
        <p:txBody>
          <a:bodyPr wrap="square" anchor="t" lIns="0" rIns="0" tIns="0" bIns="0">
            <a:spAutoFit/>
          </a:bodyPr>
          <a:lstStyle/>
          <a:p>
            <a:pPr algn="l">
              <a:lnSpc>
                <a:spcPct val="112000"/>
              </a:lnSpc>
            </a:pPr>
            <a:r>
              <a:rPr sz="1250" b="1" i="0" spc="200">
                <a:solidFill>
                  <a:srgbClr val="2E6F9E"/>
                </a:solidFill>
                <a:latin typeface="Calibri"/>
              </a:rPr>
              <a:t>MULTICOLINEALIDAD</a:t>
            </a:r>
          </a:p>
        </p:txBody>
      </p:sp>
      <p:sp>
        <p:nvSpPr>
          <p:cNvPr id="4" name="TextBox 3"/>
          <p:cNvSpPr txBox="1"/>
          <p:nvPr/>
        </p:nvSpPr>
        <p:spPr>
          <a:xfrm>
            <a:off x="685800" y="786384"/>
            <a:ext cx="10820095" cy="960120"/>
          </a:xfrm>
          <a:prstGeom prst="rect">
            <a:avLst/>
          </a:prstGeom>
          <a:noFill/>
        </p:spPr>
        <p:txBody>
          <a:bodyPr wrap="square" anchor="t" lIns="0" rIns="0" tIns="0" bIns="0">
            <a:spAutoFit/>
          </a:bodyPr>
          <a:lstStyle/>
          <a:p>
            <a:pPr algn="l">
              <a:lnSpc>
                <a:spcPct val="105000"/>
              </a:lnSpc>
            </a:pPr>
            <a:r>
              <a:rPr sz="3200" b="1" i="0">
                <a:solidFill>
                  <a:srgbClr val="16233F"/>
                </a:solidFill>
                <a:latin typeface="Cambria"/>
              </a:rPr>
              <a:t>El periódico no vendía por sí solo: le copiaba el mérito a la radio</a:t>
            </a:r>
          </a:p>
        </p:txBody>
      </p:sp>
      <p:sp>
        <p:nvSpPr>
          <p:cNvPr id="5" name="Oval 4"/>
          <p:cNvSpPr/>
          <p:nvPr/>
        </p:nvSpPr>
        <p:spPr>
          <a:xfrm>
            <a:off x="961332" y="1965960"/>
            <a:ext cx="1417320" cy="1417320"/>
          </a:xfrm>
          <a:prstGeom prst="ellipse">
            <a:avLst/>
          </a:prstGeom>
          <a:solidFill>
            <a:srgbClr val="2E6F9E">
              <a:lumMod val="45000"/>
              <a:lumOff val="55000"/>
            </a:srgbClr>
          </a:solidFill>
          <a:ln w="28575">
            <a:solidFill>
              <a:srgbClr val="2E6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798209" y="1965960"/>
            <a:ext cx="1417320" cy="1417320"/>
          </a:xfrm>
          <a:prstGeom prst="ellipse">
            <a:avLst/>
          </a:prstGeom>
          <a:solidFill>
            <a:srgbClr val="E1962E">
              <a:lumMod val="45000"/>
              <a:lumOff val="55000"/>
            </a:srgbClr>
          </a:solidFill>
          <a:ln w="28575">
            <a:solidFill>
              <a:srgbClr val="E196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1332" y="2561234"/>
            <a:ext cx="1417320" cy="457200"/>
          </a:xfrm>
          <a:prstGeom prst="rect">
            <a:avLst/>
          </a:prstGeom>
          <a:noFill/>
        </p:spPr>
        <p:txBody>
          <a:bodyPr wrap="square" anchor="t" lIns="0" rIns="0" tIns="0" bIns="0">
            <a:spAutoFit/>
          </a:bodyPr>
          <a:lstStyle/>
          <a:p>
            <a:pPr algn="ctr">
              <a:lnSpc>
                <a:spcPct val="112000"/>
              </a:lnSpc>
            </a:pPr>
            <a:r>
              <a:rPr sz="1550" b="1" i="0">
                <a:solidFill>
                  <a:srgbClr val="FFFFFF"/>
                </a:solidFill>
                <a:latin typeface="Cambria"/>
              </a:rPr>
              <a:t>Radio</a:t>
            </a:r>
          </a:p>
        </p:txBody>
      </p:sp>
      <p:sp>
        <p:nvSpPr>
          <p:cNvPr id="8" name="TextBox 7"/>
          <p:cNvSpPr txBox="1"/>
          <p:nvPr/>
        </p:nvSpPr>
        <p:spPr>
          <a:xfrm>
            <a:off x="2798209" y="2561234"/>
            <a:ext cx="1417320" cy="457200"/>
          </a:xfrm>
          <a:prstGeom prst="rect">
            <a:avLst/>
          </a:prstGeom>
          <a:noFill/>
        </p:spPr>
        <p:txBody>
          <a:bodyPr wrap="square" anchor="t" lIns="0" rIns="0" tIns="0" bIns="0">
            <a:spAutoFit/>
          </a:bodyPr>
          <a:lstStyle/>
          <a:p>
            <a:pPr algn="ctr">
              <a:lnSpc>
                <a:spcPct val="112000"/>
              </a:lnSpc>
            </a:pPr>
            <a:r>
              <a:rPr sz="1450" b="1" i="0">
                <a:solidFill>
                  <a:srgbClr val="16233F"/>
                </a:solidFill>
                <a:latin typeface="Cambria"/>
              </a:rPr>
              <a:t>Periódico</a:t>
            </a:r>
          </a:p>
        </p:txBody>
      </p:sp>
      <p:sp>
        <p:nvSpPr>
          <p:cNvPr id="9" name="TextBox 8"/>
          <p:cNvSpPr txBox="1"/>
          <p:nvPr/>
        </p:nvSpPr>
        <p:spPr>
          <a:xfrm>
            <a:off x="2016930" y="3493008"/>
            <a:ext cx="1463040" cy="640080"/>
          </a:xfrm>
          <a:prstGeom prst="rect">
            <a:avLst/>
          </a:prstGeom>
          <a:noFill/>
        </p:spPr>
        <p:txBody>
          <a:bodyPr wrap="square" anchor="t" lIns="0" rIns="0" tIns="0" bIns="0">
            <a:spAutoFit/>
          </a:bodyPr>
          <a:lstStyle/>
          <a:p>
            <a:pPr algn="ctr">
              <a:lnSpc>
                <a:spcPct val="105000"/>
              </a:lnSpc>
            </a:pPr>
            <a:r>
              <a:rPr sz="1300" b="1" i="0">
                <a:solidFill>
                  <a:srgbClr val="4B5768"/>
                </a:solidFill>
                <a:latin typeface="Calibri"/>
              </a:rPr>
              <a:t>correlación</a:t>
            </a:r>
          </a:p>
          <a:p>
            <a:pPr algn="ctr">
              <a:lnSpc>
                <a:spcPct val="105000"/>
              </a:lnSpc>
            </a:pPr>
            <a:r>
              <a:rPr sz="1300" b="1" i="0">
                <a:solidFill>
                  <a:srgbClr val="4B5768"/>
                </a:solidFill>
                <a:latin typeface="Calibri"/>
              </a:rPr>
              <a:t>0.354</a:t>
            </a:r>
          </a:p>
        </p:txBody>
      </p:sp>
      <p:sp>
        <p:nvSpPr>
          <p:cNvPr id="10" name="TextBox 9"/>
          <p:cNvSpPr txBox="1"/>
          <p:nvPr/>
        </p:nvSpPr>
        <p:spPr>
          <a:xfrm>
            <a:off x="777644" y="3977639"/>
            <a:ext cx="3748118" cy="365760"/>
          </a:xfrm>
          <a:prstGeom prst="rect">
            <a:avLst/>
          </a:prstGeom>
          <a:noFill/>
        </p:spPr>
        <p:txBody>
          <a:bodyPr wrap="square" anchor="t" lIns="0" rIns="0" tIns="0" bIns="0">
            <a:spAutoFit/>
          </a:bodyPr>
          <a:lstStyle/>
          <a:p>
            <a:pPr algn="l">
              <a:lnSpc>
                <a:spcPct val="112000"/>
              </a:lnSpc>
            </a:pPr>
            <a:r>
              <a:rPr sz="1200" b="1" i="0" spc="120">
                <a:solidFill>
                  <a:srgbClr val="4B5768"/>
                </a:solidFill>
                <a:latin typeface="Calibri"/>
              </a:rPr>
              <a:t>P-VALUE DE PERIÓDICO</a:t>
            </a:r>
          </a:p>
        </p:txBody>
      </p:sp>
      <p:sp>
        <p:nvSpPr>
          <p:cNvPr id="11" name="Rounded Rectangle 10"/>
          <p:cNvSpPr/>
          <p:nvPr/>
        </p:nvSpPr>
        <p:spPr>
          <a:xfrm>
            <a:off x="777644" y="4343400"/>
            <a:ext cx="1828800" cy="777240"/>
          </a:xfrm>
          <a:prstGeom prst="roundRect">
            <a:avLst>
              <a:gd name="adj" fmla="val 28000"/>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796" y="4343400"/>
            <a:ext cx="1682496" cy="777240"/>
          </a:xfrm>
          <a:prstGeom prst="rect">
            <a:avLst/>
          </a:prstGeom>
          <a:noFill/>
        </p:spPr>
        <p:txBody>
          <a:bodyPr wrap="square" anchor="ctr" lIns="0" rIns="0" tIns="0" bIns="0">
            <a:spAutoFit/>
          </a:bodyPr>
          <a:lstStyle/>
          <a:p>
            <a:pPr algn="ctr">
              <a:lnSpc>
                <a:spcPct val="105000"/>
              </a:lnSpc>
            </a:pPr>
            <a:r>
              <a:rPr sz="1250" b="1" i="0">
                <a:solidFill>
                  <a:srgbClr val="FFFFFF"/>
                </a:solidFill>
                <a:latin typeface="Calibri"/>
              </a:rPr>
              <a:t>Solo</a:t>
            </a:r>
          </a:p>
          <a:p>
            <a:pPr algn="ctr">
              <a:lnSpc>
                <a:spcPct val="105000"/>
              </a:lnSpc>
            </a:pPr>
            <a:r>
              <a:rPr sz="1250" b="1" i="0">
                <a:solidFill>
                  <a:srgbClr val="FFFFFF"/>
                </a:solidFill>
                <a:latin typeface="Calibri"/>
              </a:rPr>
              <a:t>0.0011  ✓ significativo</a:t>
            </a:r>
          </a:p>
        </p:txBody>
      </p:sp>
      <p:sp>
        <p:nvSpPr>
          <p:cNvPr id="13" name="TextBox 12"/>
          <p:cNvSpPr txBox="1"/>
          <p:nvPr/>
        </p:nvSpPr>
        <p:spPr>
          <a:xfrm>
            <a:off x="2752287" y="4480560"/>
            <a:ext cx="548640" cy="457200"/>
          </a:xfrm>
          <a:prstGeom prst="rect">
            <a:avLst/>
          </a:prstGeom>
          <a:noFill/>
        </p:spPr>
        <p:txBody>
          <a:bodyPr wrap="square" anchor="t" lIns="0" rIns="0" tIns="0" bIns="0">
            <a:spAutoFit/>
          </a:bodyPr>
          <a:lstStyle/>
          <a:p>
            <a:pPr algn="ctr">
              <a:lnSpc>
                <a:spcPct val="112000"/>
              </a:lnSpc>
            </a:pPr>
            <a:r>
              <a:rPr sz="2600" b="1" i="0">
                <a:solidFill>
                  <a:srgbClr val="4B5768"/>
                </a:solidFill>
                <a:latin typeface="Calibri"/>
              </a:rPr>
              <a:t>→</a:t>
            </a:r>
          </a:p>
        </p:txBody>
      </p:sp>
      <p:sp>
        <p:nvSpPr>
          <p:cNvPr id="14" name="Rounded Rectangle 13"/>
          <p:cNvSpPr/>
          <p:nvPr/>
        </p:nvSpPr>
        <p:spPr>
          <a:xfrm>
            <a:off x="3349272" y="4343400"/>
            <a:ext cx="2148840" cy="777240"/>
          </a:xfrm>
          <a:prstGeom prst="roundRect">
            <a:avLst>
              <a:gd name="adj" fmla="val 28000"/>
            </a:avLst>
          </a:prstGeom>
          <a:solidFill>
            <a:srgbClr val="C14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22424" y="4343400"/>
            <a:ext cx="2002536" cy="777240"/>
          </a:xfrm>
          <a:prstGeom prst="rect">
            <a:avLst/>
          </a:prstGeom>
          <a:noFill/>
        </p:spPr>
        <p:txBody>
          <a:bodyPr wrap="square" anchor="ctr" lIns="0" rIns="0" tIns="0" bIns="0">
            <a:spAutoFit/>
          </a:bodyPr>
          <a:lstStyle/>
          <a:p>
            <a:pPr algn="ctr">
              <a:lnSpc>
                <a:spcPct val="105000"/>
              </a:lnSpc>
            </a:pPr>
            <a:r>
              <a:rPr sz="1250" b="1" i="0">
                <a:solidFill>
                  <a:srgbClr val="FFFFFF"/>
                </a:solidFill>
                <a:latin typeface="Calibri"/>
              </a:rPr>
              <a:t>Con radio en el modelo</a:t>
            </a:r>
          </a:p>
          <a:p>
            <a:pPr algn="ctr">
              <a:lnSpc>
                <a:spcPct val="105000"/>
              </a:lnSpc>
            </a:pPr>
            <a:r>
              <a:rPr sz="1250" b="1" i="0">
                <a:solidFill>
                  <a:srgbClr val="FFFFFF"/>
                </a:solidFill>
                <a:latin typeface="Calibri"/>
              </a:rPr>
              <a:t>0.860  ✗ no significativo</a:t>
            </a:r>
          </a:p>
        </p:txBody>
      </p:sp>
      <p:sp>
        <p:nvSpPr>
          <p:cNvPr id="16" name="TextBox 15"/>
          <p:cNvSpPr txBox="1"/>
          <p:nvPr/>
        </p:nvSpPr>
        <p:spPr>
          <a:xfrm>
            <a:off x="6196432" y="1965960"/>
            <a:ext cx="5309464" cy="365760"/>
          </a:xfrm>
          <a:prstGeom prst="rect">
            <a:avLst/>
          </a:prstGeom>
          <a:noFill/>
        </p:spPr>
        <p:txBody>
          <a:bodyPr wrap="square" anchor="t" lIns="0" rIns="0" tIns="0" bIns="0">
            <a:spAutoFit/>
          </a:bodyPr>
          <a:lstStyle/>
          <a:p>
            <a:pPr algn="l">
              <a:lnSpc>
                <a:spcPct val="112000"/>
              </a:lnSpc>
            </a:pPr>
            <a:r>
              <a:rPr sz="1200" b="1" i="0" spc="120">
                <a:solidFill>
                  <a:srgbClr val="4B5768"/>
                </a:solidFill>
                <a:latin typeface="Calibri"/>
              </a:rPr>
              <a:t>¿POR QUÉ PASA ESTO?</a:t>
            </a:r>
          </a:p>
        </p:txBody>
      </p:sp>
      <p:sp>
        <p:nvSpPr>
          <p:cNvPr id="17" name="TextBox 16"/>
          <p:cNvSpPr txBox="1"/>
          <p:nvPr/>
        </p:nvSpPr>
        <p:spPr>
          <a:xfrm>
            <a:off x="6196432" y="2377440"/>
            <a:ext cx="5309464" cy="2651760"/>
          </a:xfrm>
          <a:prstGeom prst="rect">
            <a:avLst/>
          </a:prstGeom>
          <a:noFill/>
        </p:spPr>
        <p:txBody>
          <a:bodyPr wrap="square" anchor="t" lIns="0" rIns="0" tIns="0" bIns="0">
            <a:spAutoFit/>
          </a:bodyPr>
          <a:lstStyle/>
          <a:p>
            <a:pPr algn="l">
              <a:lnSpc>
                <a:spcPct val="135000"/>
              </a:lnSpc>
            </a:pPr>
            <a:r>
              <a:rPr sz="1550" b="0" i="0">
                <a:solidFill>
                  <a:srgbClr val="4B5768"/>
                </a:solidFill>
                <a:latin typeface="Calibri"/>
              </a:rPr>
              <a:t>En los mercados donde se invierte más en radio, también se tiende a invertir más en periódico. La regresión simple solo ve una variable a la vez, así que el periódico se “cuelga” del efecto real de la radio.</a:t>
            </a:r>
          </a:p>
          <a:p>
            <a:pPr algn="l">
              <a:lnSpc>
                <a:spcPct val="135000"/>
              </a:lnSpc>
            </a:pPr>
            <a:r>
              <a:rPr sz="1550" b="0" i="0">
                <a:solidFill>
                  <a:srgbClr val="4B5768"/>
                </a:solidFill>
                <a:latin typeface="Calibri"/>
              </a:rPr>
              <a:t/>
            </a:r>
          </a:p>
          <a:p>
            <a:pPr algn="l">
              <a:lnSpc>
                <a:spcPct val="135000"/>
              </a:lnSpc>
            </a:pPr>
            <a:r>
              <a:rPr sz="1550" b="0" i="0">
                <a:solidFill>
                  <a:srgbClr val="4B5768"/>
                </a:solidFill>
                <a:latin typeface="Calibri"/>
              </a:rPr>
              <a:t>Al meter radio al modelo, el periódico deja de aportar información nueva y su coeficiente cae casi a cero. Además el modelo completo explica mejor los datos, el error residual baja de 3.26 a 1.69, y eso hace crecer los estadísticos t de TV y radio.</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6233F"/>
        </a:solidFill>
        <a:effectLst/>
      </p:bgPr>
    </p:bg>
    <p:spTree>
      <p:nvGrpSpPr>
        <p:cNvPr id="1" name=""/>
        <p:cNvGrpSpPr/>
        <p:nvPr/>
      </p:nvGrpSpPr>
      <p:grpSpPr/>
      <p:sp>
        <p:nvSpPr>
          <p:cNvPr id="2" name="TextBox 1"/>
          <p:cNvSpPr txBox="1"/>
          <p:nvPr/>
        </p:nvSpPr>
        <p:spPr>
          <a:xfrm>
            <a:off x="822960" y="1234440"/>
            <a:ext cx="5943600" cy="2834640"/>
          </a:xfrm>
          <a:prstGeom prst="rect">
            <a:avLst/>
          </a:prstGeom>
          <a:noFill/>
        </p:spPr>
        <p:txBody>
          <a:bodyPr wrap="square" anchor="t" lIns="0" rIns="0" tIns="0" bIns="0">
            <a:spAutoFit/>
          </a:bodyPr>
          <a:lstStyle/>
          <a:p>
            <a:pPr algn="l">
              <a:lnSpc>
                <a:spcPct val="100000"/>
              </a:lnSpc>
            </a:pPr>
            <a:r>
              <a:rPr sz="19000" b="1" i="0">
                <a:solidFill>
                  <a:srgbClr val="E1962E"/>
                </a:solidFill>
                <a:latin typeface="Cambria"/>
              </a:rPr>
              <a:t>04</a:t>
            </a:r>
          </a:p>
        </p:txBody>
      </p:sp>
      <p:sp>
        <p:nvSpPr>
          <p:cNvPr id="3" name="Rectangle 2"/>
          <p:cNvSpPr/>
          <p:nvPr/>
        </p:nvSpPr>
        <p:spPr>
          <a:xfrm>
            <a:off x="914400" y="4343400"/>
            <a:ext cx="640080" cy="20320"/>
          </a:xfrm>
          <a:prstGeom prst="rect">
            <a:avLst/>
          </a:prstGeom>
          <a:solidFill>
            <a:srgbClr val="E19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4526280"/>
            <a:ext cx="9601200" cy="914400"/>
          </a:xfrm>
          <a:prstGeom prst="rect">
            <a:avLst/>
          </a:prstGeom>
          <a:noFill/>
        </p:spPr>
        <p:txBody>
          <a:bodyPr wrap="square" anchor="t" lIns="0" rIns="0" tIns="0" bIns="0">
            <a:spAutoFit/>
          </a:bodyPr>
          <a:lstStyle/>
          <a:p>
            <a:pPr algn="l">
              <a:lnSpc>
                <a:spcPct val="112000"/>
              </a:lnSpc>
            </a:pPr>
            <a:r>
              <a:rPr sz="4000" b="1" i="0">
                <a:solidFill>
                  <a:srgbClr val="FFFFFF"/>
                </a:solidFill>
                <a:latin typeface="Cambria"/>
              </a:rPr>
              <a:t>Regresión polinómica y escalamiento</a:t>
            </a:r>
          </a:p>
        </p:txBody>
      </p:sp>
      <p:sp>
        <p:nvSpPr>
          <p:cNvPr id="5" name="TextBox 4"/>
          <p:cNvSpPr txBox="1"/>
          <p:nvPr/>
        </p:nvSpPr>
        <p:spPr>
          <a:xfrm>
            <a:off x="868680" y="5349240"/>
            <a:ext cx="9144000" cy="822960"/>
          </a:xfrm>
          <a:prstGeom prst="rect">
            <a:avLst/>
          </a:prstGeom>
          <a:noFill/>
        </p:spPr>
        <p:txBody>
          <a:bodyPr wrap="square" anchor="t" lIns="0" rIns="0" tIns="0" bIns="0">
            <a:spAutoFit/>
          </a:bodyPr>
          <a:lstStyle/>
          <a:p>
            <a:pPr algn="l">
              <a:lnSpc>
                <a:spcPct val="130000"/>
              </a:lnSpc>
            </a:pPr>
            <a:r>
              <a:rPr sz="1850" b="0" i="0">
                <a:solidFill>
                  <a:srgbClr val="C9D3E0"/>
                </a:solidFill>
                <a:latin typeface="Calibri"/>
              </a:rPr>
              <a:t>¿Más grados del polinomio siempre mejoran el ajuste?</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8951747" y="530352"/>
            <a:ext cx="2554148" cy="274320"/>
          </a:xfrm>
          <a:prstGeom prst="rect">
            <a:avLst/>
          </a:prstGeom>
          <a:noFill/>
        </p:spPr>
        <p:txBody>
          <a:bodyPr wrap="square" anchor="t" lIns="0" rIns="0" tIns="0" bIns="0">
            <a:spAutoFit/>
          </a:bodyPr>
          <a:lstStyle/>
          <a:p>
            <a:pPr algn="r">
              <a:lnSpc>
                <a:spcPct val="112000"/>
              </a:lnSpc>
            </a:pPr>
            <a:r>
              <a:rPr sz="1100" b="1" i="0" spc="130">
                <a:solidFill>
                  <a:srgbClr val="4B5768"/>
                </a:solidFill>
                <a:latin typeface="Calibri"/>
              </a:rPr>
              <a:t>04 · POLINÓMICA</a:t>
            </a:r>
          </a:p>
        </p:txBody>
      </p:sp>
      <p:sp>
        <p:nvSpPr>
          <p:cNvPr id="3" name="TextBox 2"/>
          <p:cNvSpPr txBox="1"/>
          <p:nvPr/>
        </p:nvSpPr>
        <p:spPr>
          <a:xfrm>
            <a:off x="685800" y="502920"/>
            <a:ext cx="10820095" cy="292608"/>
          </a:xfrm>
          <a:prstGeom prst="rect">
            <a:avLst/>
          </a:prstGeom>
          <a:noFill/>
        </p:spPr>
        <p:txBody>
          <a:bodyPr wrap="square" anchor="t" lIns="0" rIns="0" tIns="0" bIns="0">
            <a:spAutoFit/>
          </a:bodyPr>
          <a:lstStyle/>
          <a:p>
            <a:pPr algn="l">
              <a:lnSpc>
                <a:spcPct val="112000"/>
              </a:lnSpc>
            </a:pPr>
            <a:r>
              <a:rPr sz="1250" b="1" i="0" spc="200">
                <a:solidFill>
                  <a:srgbClr val="2E6F9E"/>
                </a:solidFill>
                <a:latin typeface="Calibri"/>
              </a:rPr>
              <a:t>BATERÍA VS CARGA — SIN ESCALAR</a:t>
            </a:r>
          </a:p>
        </p:txBody>
      </p:sp>
      <p:sp>
        <p:nvSpPr>
          <p:cNvPr id="4" name="TextBox 3"/>
          <p:cNvSpPr txBox="1"/>
          <p:nvPr/>
        </p:nvSpPr>
        <p:spPr>
          <a:xfrm>
            <a:off x="685800" y="786384"/>
            <a:ext cx="10820095" cy="960120"/>
          </a:xfrm>
          <a:prstGeom prst="rect">
            <a:avLst/>
          </a:prstGeom>
          <a:noFill/>
        </p:spPr>
        <p:txBody>
          <a:bodyPr wrap="square" anchor="t" lIns="0" rIns="0" tIns="0" bIns="0">
            <a:spAutoFit/>
          </a:bodyPr>
          <a:lstStyle/>
          <a:p>
            <a:pPr algn="l">
              <a:lnSpc>
                <a:spcPct val="105000"/>
              </a:lnSpc>
            </a:pPr>
            <a:r>
              <a:rPr sz="3200" b="1" i="0">
                <a:solidFill>
                  <a:srgbClr val="16233F"/>
                </a:solidFill>
                <a:latin typeface="Cambria"/>
              </a:rPr>
              <a:t>Subir a grado 9 sin preparar los datos hunde el ajuste</a:t>
            </a:r>
          </a:p>
        </p:txBody>
      </p:sp>
      <p:graphicFrame>
        <p:nvGraphicFramePr>
          <p:cNvPr id="5" name="Chart 4"/>
          <p:cNvGraphicFramePr>
            <a:graphicFrameLocks noGrp="1"/>
          </p:cNvGraphicFramePr>
          <p:nvPr/>
        </p:nvGraphicFramePr>
        <p:xfrm>
          <a:off x="685800" y="1920240"/>
          <a:ext cx="6778965" cy="3520440"/>
        </p:xfrm>
        <a:graphic>
          <a:graphicData uri="http://schemas.openxmlformats.org/drawingml/2006/chart">
            <c:chart xmlns:c="http://schemas.openxmlformats.org/drawingml/2006/chart" r:id="rId2"/>
          </a:graphicData>
        </a:graphic>
      </p:graphicFrame>
      <p:sp>
        <p:nvSpPr>
          <p:cNvPr id="6" name="Rounded Rectangle 5"/>
          <p:cNvSpPr/>
          <p:nvPr/>
        </p:nvSpPr>
        <p:spPr>
          <a:xfrm>
            <a:off x="7941465" y="1920240"/>
            <a:ext cx="3564430" cy="3520440"/>
          </a:xfrm>
          <a:prstGeom prst="roundRect">
            <a:avLst>
              <a:gd name="adj" fmla="val 6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70065" y="2148840"/>
            <a:ext cx="3107230" cy="365760"/>
          </a:xfrm>
          <a:prstGeom prst="rect">
            <a:avLst/>
          </a:prstGeom>
          <a:noFill/>
        </p:spPr>
        <p:txBody>
          <a:bodyPr wrap="square" anchor="t" lIns="0" rIns="0" tIns="0" bIns="0">
            <a:spAutoFit/>
          </a:bodyPr>
          <a:lstStyle/>
          <a:p>
            <a:pPr algn="l">
              <a:lnSpc>
                <a:spcPct val="112000"/>
              </a:lnSpc>
            </a:pPr>
            <a:r>
              <a:rPr sz="1250" b="1" i="0" spc="80">
                <a:solidFill>
                  <a:srgbClr val="C1443C"/>
                </a:solidFill>
                <a:latin typeface="Calibri"/>
              </a:rPr>
              <a:t>⚠ INESTABILIDAD NUMÉRICA</a:t>
            </a:r>
          </a:p>
        </p:txBody>
      </p:sp>
      <p:sp>
        <p:nvSpPr>
          <p:cNvPr id="8" name="TextBox 7"/>
          <p:cNvSpPr txBox="1"/>
          <p:nvPr/>
        </p:nvSpPr>
        <p:spPr>
          <a:xfrm>
            <a:off x="8170065" y="2606040"/>
            <a:ext cx="3107230" cy="2560320"/>
          </a:xfrm>
          <a:prstGeom prst="rect">
            <a:avLst/>
          </a:prstGeom>
          <a:noFill/>
        </p:spPr>
        <p:txBody>
          <a:bodyPr wrap="square" anchor="t" lIns="0" rIns="0" tIns="0" bIns="0">
            <a:spAutoFit/>
          </a:bodyPr>
          <a:lstStyle/>
          <a:p>
            <a:pPr algn="l">
              <a:lnSpc>
                <a:spcPct val="132000"/>
              </a:lnSpc>
            </a:pPr>
            <a:r>
              <a:rPr sz="1400" b="0" i="0">
                <a:solidFill>
                  <a:srgbClr val="16233F"/>
                </a:solidFill>
                <a:latin typeface="Calibri"/>
              </a:rPr>
              <a:t>De grado 1 a 5 el ajuste mejora muchísimo. Pero al elevar la carga hasta la potencia 9 sin escalar, los números se vuelven enormes o minúsculos y el algoritmo de mínimos cuadrados pierde precisión.</a:t>
            </a:r>
          </a:p>
          <a:p>
            <a:pPr algn="l">
              <a:lnSpc>
                <a:spcPct val="132000"/>
              </a:lnSpc>
            </a:pPr>
            <a:r>
              <a:rPr sz="1400" b="0" i="0">
                <a:solidFill>
                  <a:srgbClr val="16233F"/>
                </a:solidFill>
                <a:latin typeface="Calibri"/>
              </a:rPr>
              <a:t/>
            </a:r>
          </a:p>
          <a:p>
            <a:pPr algn="l">
              <a:lnSpc>
                <a:spcPct val="132000"/>
              </a:lnSpc>
            </a:pPr>
            <a:r>
              <a:rPr sz="1400" b="0" i="0">
                <a:solidFill>
                  <a:srgbClr val="16233F"/>
                </a:solidFill>
                <a:latin typeface="Calibri"/>
              </a:rPr>
              <a:t>El mismo patrón aparece con el salario mínimo:</a:t>
            </a:r>
          </a:p>
          <a:p>
            <a:pPr algn="l">
              <a:lnSpc>
                <a:spcPct val="132000"/>
              </a:lnSpc>
            </a:pPr>
            <a:r>
              <a:rPr sz="1400" b="0" i="0">
                <a:solidFill>
                  <a:srgbClr val="16233F"/>
                </a:solidFill>
                <a:latin typeface="Calibri"/>
              </a:rPr>
              <a:t>grado 1 = 98.4% · grado 5 = 99.1% · grado 9 = 86.9%</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8951747" y="530352"/>
            <a:ext cx="2554148" cy="274320"/>
          </a:xfrm>
          <a:prstGeom prst="rect">
            <a:avLst/>
          </a:prstGeom>
          <a:noFill/>
        </p:spPr>
        <p:txBody>
          <a:bodyPr wrap="square" anchor="t" lIns="0" rIns="0" tIns="0" bIns="0">
            <a:spAutoFit/>
          </a:bodyPr>
          <a:lstStyle/>
          <a:p>
            <a:pPr algn="r">
              <a:lnSpc>
                <a:spcPct val="112000"/>
              </a:lnSpc>
            </a:pPr>
            <a:r>
              <a:rPr sz="1100" b="1" i="0" spc="130">
                <a:solidFill>
                  <a:srgbClr val="4B5768"/>
                </a:solidFill>
                <a:latin typeface="Calibri"/>
              </a:rPr>
              <a:t>04 · ESCALAMIENTO</a:t>
            </a:r>
          </a:p>
        </p:txBody>
      </p:sp>
      <p:sp>
        <p:nvSpPr>
          <p:cNvPr id="3" name="TextBox 2"/>
          <p:cNvSpPr txBox="1"/>
          <p:nvPr/>
        </p:nvSpPr>
        <p:spPr>
          <a:xfrm>
            <a:off x="685800" y="502920"/>
            <a:ext cx="10820095" cy="292608"/>
          </a:xfrm>
          <a:prstGeom prst="rect">
            <a:avLst/>
          </a:prstGeom>
          <a:noFill/>
        </p:spPr>
        <p:txBody>
          <a:bodyPr wrap="square" anchor="t" lIns="0" rIns="0" tIns="0" bIns="0">
            <a:spAutoFit/>
          </a:bodyPr>
          <a:lstStyle/>
          <a:p>
            <a:pPr algn="l">
              <a:lnSpc>
                <a:spcPct val="112000"/>
              </a:lnSpc>
            </a:pPr>
            <a:r>
              <a:rPr sz="1250" b="1" i="0" spc="200">
                <a:solidFill>
                  <a:srgbClr val="2E6F9E"/>
                </a:solidFill>
                <a:latin typeface="Calibri"/>
              </a:rPr>
              <a:t>GRADO 9, MISMOS DATOS, OTRO TRATAMIENTO</a:t>
            </a:r>
          </a:p>
        </p:txBody>
      </p:sp>
      <p:sp>
        <p:nvSpPr>
          <p:cNvPr id="4" name="TextBox 3"/>
          <p:cNvSpPr txBox="1"/>
          <p:nvPr/>
        </p:nvSpPr>
        <p:spPr>
          <a:xfrm>
            <a:off x="685800" y="786384"/>
            <a:ext cx="10820095" cy="960120"/>
          </a:xfrm>
          <a:prstGeom prst="rect">
            <a:avLst/>
          </a:prstGeom>
          <a:noFill/>
        </p:spPr>
        <p:txBody>
          <a:bodyPr wrap="square" anchor="t" lIns="0" rIns="0" tIns="0" bIns="0">
            <a:spAutoFit/>
          </a:bodyPr>
          <a:lstStyle/>
          <a:p>
            <a:pPr algn="l">
              <a:lnSpc>
                <a:spcPct val="105000"/>
              </a:lnSpc>
            </a:pPr>
            <a:r>
              <a:rPr sz="3200" b="1" i="0">
                <a:solidFill>
                  <a:srgbClr val="16233F"/>
                </a:solidFill>
                <a:latin typeface="Cambria"/>
              </a:rPr>
              <a:t>Escalar los datos recupera el ajuste que la potencia 9 arruinó</a:t>
            </a:r>
          </a:p>
        </p:txBody>
      </p:sp>
      <p:graphicFrame>
        <p:nvGraphicFramePr>
          <p:cNvPr id="5" name="Chart 4"/>
          <p:cNvGraphicFramePr>
            <a:graphicFrameLocks noGrp="1"/>
          </p:cNvGraphicFramePr>
          <p:nvPr/>
        </p:nvGraphicFramePr>
        <p:xfrm>
          <a:off x="685800" y="1874519"/>
          <a:ext cx="10820095" cy="3246120"/>
        </p:xfrm>
        <a:graphic>
          <a:graphicData uri="http://schemas.openxmlformats.org/drawingml/2006/chart">
            <c:chart xmlns:c="http://schemas.openxmlformats.org/drawingml/2006/chart" r:id="rId2"/>
          </a:graphicData>
        </a:graphic>
      </p:graphicFrame>
      <p:sp>
        <p:nvSpPr>
          <p:cNvPr id="6" name="Rounded Rectangle 5"/>
          <p:cNvSpPr/>
          <p:nvPr/>
        </p:nvSpPr>
        <p:spPr>
          <a:xfrm>
            <a:off x="685800" y="5440680"/>
            <a:ext cx="5033932" cy="566928"/>
          </a:xfrm>
          <a:prstGeom prst="roundRect">
            <a:avLst>
              <a:gd name="adj" fmla="val 10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5440680"/>
            <a:ext cx="4759612" cy="566928"/>
          </a:xfrm>
          <a:prstGeom prst="rect">
            <a:avLst/>
          </a:prstGeom>
          <a:noFill/>
        </p:spPr>
        <p:txBody>
          <a:bodyPr wrap="square" anchor="ctr" lIns="0" rIns="0" tIns="0" bIns="0">
            <a:spAutoFit/>
          </a:bodyPr>
          <a:lstStyle/>
          <a:p>
            <a:pPr algn="ctr">
              <a:lnSpc>
                <a:spcPct val="110000"/>
              </a:lnSpc>
            </a:pPr>
            <a:r>
              <a:rPr sz="1400" b="0" i="1">
                <a:solidFill>
                  <a:srgbClr val="16233F"/>
                </a:solidFill>
                <a:latin typeface="Cambria"/>
              </a:rPr>
              <a:t>Min-Max: x' = 1 + (x − min) ⁄ (max − min)</a:t>
            </a:r>
          </a:p>
        </p:txBody>
      </p:sp>
      <p:sp>
        <p:nvSpPr>
          <p:cNvPr id="8" name="Rounded Rectangle 7"/>
          <p:cNvSpPr/>
          <p:nvPr/>
        </p:nvSpPr>
        <p:spPr>
          <a:xfrm>
            <a:off x="6471963" y="5440680"/>
            <a:ext cx="5033932" cy="566928"/>
          </a:xfrm>
          <a:prstGeom prst="roundRect">
            <a:avLst>
              <a:gd name="adj" fmla="val 10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09123" y="5440680"/>
            <a:ext cx="4759612" cy="566928"/>
          </a:xfrm>
          <a:prstGeom prst="rect">
            <a:avLst/>
          </a:prstGeom>
          <a:noFill/>
        </p:spPr>
        <p:txBody>
          <a:bodyPr wrap="square" anchor="ctr" lIns="0" rIns="0" tIns="0" bIns="0">
            <a:spAutoFit/>
          </a:bodyPr>
          <a:lstStyle/>
          <a:p>
            <a:pPr algn="ctr">
              <a:lnSpc>
                <a:spcPct val="110000"/>
              </a:lnSpc>
            </a:pPr>
            <a:r>
              <a:rPr sz="1400" b="0" i="1">
                <a:solidFill>
                  <a:srgbClr val="16233F"/>
                </a:solidFill>
                <a:latin typeface="Cambria"/>
              </a:rPr>
              <a:t>Estándar: x' = (x − media) ⁄ desviación</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6233F"/>
        </a:solidFill>
        <a:effectLst/>
      </p:bgPr>
    </p:bg>
    <p:spTree>
      <p:nvGrpSpPr>
        <p:cNvPr id="1" name=""/>
        <p:cNvGrpSpPr/>
        <p:nvPr/>
      </p:nvGrpSpPr>
      <p:grpSpPr/>
      <p:sp>
        <p:nvSpPr>
          <p:cNvPr id="2" name="TextBox 1"/>
          <p:cNvSpPr txBox="1"/>
          <p:nvPr/>
        </p:nvSpPr>
        <p:spPr>
          <a:xfrm>
            <a:off x="822960" y="1234440"/>
            <a:ext cx="5943600" cy="2834640"/>
          </a:xfrm>
          <a:prstGeom prst="rect">
            <a:avLst/>
          </a:prstGeom>
          <a:noFill/>
        </p:spPr>
        <p:txBody>
          <a:bodyPr wrap="square" anchor="t" lIns="0" rIns="0" tIns="0" bIns="0">
            <a:spAutoFit/>
          </a:bodyPr>
          <a:lstStyle/>
          <a:p>
            <a:pPr algn="l">
              <a:lnSpc>
                <a:spcPct val="100000"/>
              </a:lnSpc>
            </a:pPr>
            <a:r>
              <a:rPr sz="19000" b="1" i="0">
                <a:solidFill>
                  <a:srgbClr val="E1962E"/>
                </a:solidFill>
                <a:latin typeface="Cambria"/>
              </a:rPr>
              <a:t>05</a:t>
            </a:r>
          </a:p>
        </p:txBody>
      </p:sp>
      <p:sp>
        <p:nvSpPr>
          <p:cNvPr id="3" name="Rectangle 2"/>
          <p:cNvSpPr/>
          <p:nvPr/>
        </p:nvSpPr>
        <p:spPr>
          <a:xfrm>
            <a:off x="914400" y="4343400"/>
            <a:ext cx="640080" cy="20320"/>
          </a:xfrm>
          <a:prstGeom prst="rect">
            <a:avLst/>
          </a:prstGeom>
          <a:solidFill>
            <a:srgbClr val="E19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4526280"/>
            <a:ext cx="9601200" cy="914400"/>
          </a:xfrm>
          <a:prstGeom prst="rect">
            <a:avLst/>
          </a:prstGeom>
          <a:noFill/>
        </p:spPr>
        <p:txBody>
          <a:bodyPr wrap="square" anchor="t" lIns="0" rIns="0" tIns="0" bIns="0">
            <a:spAutoFit/>
          </a:bodyPr>
          <a:lstStyle/>
          <a:p>
            <a:pPr algn="l">
              <a:lnSpc>
                <a:spcPct val="112000"/>
              </a:lnSpc>
            </a:pPr>
            <a:r>
              <a:rPr sz="4000" b="1" i="0">
                <a:solidFill>
                  <a:srgbClr val="FFFFFF"/>
                </a:solidFill>
                <a:latin typeface="Cambria"/>
              </a:rPr>
              <a:t>Codificación de variables categóricas</a:t>
            </a:r>
          </a:p>
        </p:txBody>
      </p:sp>
      <p:sp>
        <p:nvSpPr>
          <p:cNvPr id="5" name="TextBox 4"/>
          <p:cNvSpPr txBox="1"/>
          <p:nvPr/>
        </p:nvSpPr>
        <p:spPr>
          <a:xfrm>
            <a:off x="868680" y="5349240"/>
            <a:ext cx="9144000" cy="822960"/>
          </a:xfrm>
          <a:prstGeom prst="rect">
            <a:avLst/>
          </a:prstGeom>
          <a:noFill/>
        </p:spPr>
        <p:txBody>
          <a:bodyPr wrap="square" anchor="t" lIns="0" rIns="0" tIns="0" bIns="0">
            <a:spAutoFit/>
          </a:bodyPr>
          <a:lstStyle/>
          <a:p>
            <a:pPr algn="l">
              <a:lnSpc>
                <a:spcPct val="130000"/>
              </a:lnSpc>
            </a:pPr>
            <a:r>
              <a:rPr sz="1850" b="0" i="0">
                <a:solidFill>
                  <a:srgbClr val="C9D3E0"/>
                </a:solidFill>
                <a:latin typeface="Calibri"/>
              </a:rPr>
              <a:t>¿Cómo entran el sabor, el tamaño y el hielo a un modelo numérico?</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8951747" y="530352"/>
            <a:ext cx="2554148" cy="274320"/>
          </a:xfrm>
          <a:prstGeom prst="rect">
            <a:avLst/>
          </a:prstGeom>
          <a:noFill/>
        </p:spPr>
        <p:txBody>
          <a:bodyPr wrap="square" anchor="t" lIns="0" rIns="0" tIns="0" bIns="0">
            <a:spAutoFit/>
          </a:bodyPr>
          <a:lstStyle/>
          <a:p>
            <a:pPr algn="r">
              <a:lnSpc>
                <a:spcPct val="112000"/>
              </a:lnSpc>
            </a:pPr>
            <a:r>
              <a:rPr sz="1100" b="1" i="0" spc="130">
                <a:solidFill>
                  <a:srgbClr val="4B5768"/>
                </a:solidFill>
                <a:latin typeface="Calibri"/>
              </a:rPr>
              <a:t>05 · CODIFICACIÓN</a:t>
            </a:r>
          </a:p>
        </p:txBody>
      </p:sp>
      <p:sp>
        <p:nvSpPr>
          <p:cNvPr id="3" name="TextBox 2"/>
          <p:cNvSpPr txBox="1"/>
          <p:nvPr/>
        </p:nvSpPr>
        <p:spPr>
          <a:xfrm>
            <a:off x="685800" y="502920"/>
            <a:ext cx="10820095" cy="292608"/>
          </a:xfrm>
          <a:prstGeom prst="rect">
            <a:avLst/>
          </a:prstGeom>
          <a:noFill/>
        </p:spPr>
        <p:txBody>
          <a:bodyPr wrap="square" anchor="t" lIns="0" rIns="0" tIns="0" bIns="0">
            <a:spAutoFit/>
          </a:bodyPr>
          <a:lstStyle/>
          <a:p>
            <a:pPr algn="l">
              <a:lnSpc>
                <a:spcPct val="112000"/>
              </a:lnSpc>
            </a:pPr>
            <a:r>
              <a:rPr sz="1250" b="1" i="0" spc="200">
                <a:solidFill>
                  <a:srgbClr val="2E6F9E"/>
                </a:solidFill>
                <a:latin typeface="Calibri"/>
              </a:rPr>
              <a:t>AGUAS FRESCAS — EJERCICIO - AGUAS2.XLSX</a:t>
            </a:r>
          </a:p>
        </p:txBody>
      </p:sp>
      <p:sp>
        <p:nvSpPr>
          <p:cNvPr id="4" name="TextBox 3"/>
          <p:cNvSpPr txBox="1"/>
          <p:nvPr/>
        </p:nvSpPr>
        <p:spPr>
          <a:xfrm>
            <a:off x="685800" y="786384"/>
            <a:ext cx="10820095" cy="960120"/>
          </a:xfrm>
          <a:prstGeom prst="rect">
            <a:avLst/>
          </a:prstGeom>
          <a:noFill/>
        </p:spPr>
        <p:txBody>
          <a:bodyPr wrap="square" anchor="t" lIns="0" rIns="0" tIns="0" bIns="0">
            <a:spAutoFit/>
          </a:bodyPr>
          <a:lstStyle/>
          <a:p>
            <a:pPr algn="l">
              <a:lnSpc>
                <a:spcPct val="105000"/>
              </a:lnSpc>
            </a:pPr>
            <a:r>
              <a:rPr sz="3200" b="1" i="0">
                <a:solidFill>
                  <a:srgbClr val="16233F"/>
                </a:solidFill>
                <a:latin typeface="Cambria"/>
              </a:rPr>
              <a:t>Cada categoría se convierte en columnas de ceros y unos</a:t>
            </a:r>
          </a:p>
        </p:txBody>
      </p:sp>
      <p:sp>
        <p:nvSpPr>
          <p:cNvPr id="5" name="TextBox 4"/>
          <p:cNvSpPr txBox="1"/>
          <p:nvPr/>
        </p:nvSpPr>
        <p:spPr>
          <a:xfrm>
            <a:off x="685800" y="1783080"/>
            <a:ext cx="3105211" cy="960120"/>
          </a:xfrm>
          <a:prstGeom prst="rect">
            <a:avLst/>
          </a:prstGeom>
          <a:noFill/>
        </p:spPr>
        <p:txBody>
          <a:bodyPr wrap="square" anchor="t" lIns="0" rIns="0" tIns="0" bIns="0">
            <a:spAutoFit/>
          </a:bodyPr>
          <a:lstStyle/>
          <a:p>
            <a:pPr algn="l">
              <a:lnSpc>
                <a:spcPct val="100000"/>
              </a:lnSpc>
            </a:pPr>
            <a:r>
              <a:rPr sz="5800" b="1" i="0">
                <a:solidFill>
                  <a:srgbClr val="E1962E"/>
                </a:solidFill>
                <a:latin typeface="Cambria"/>
              </a:rPr>
              <a:t>20</a:t>
            </a:r>
          </a:p>
        </p:txBody>
      </p:sp>
      <p:sp>
        <p:nvSpPr>
          <p:cNvPr id="6" name="TextBox 5"/>
          <p:cNvSpPr txBox="1"/>
          <p:nvPr/>
        </p:nvSpPr>
        <p:spPr>
          <a:xfrm>
            <a:off x="685800" y="2697480"/>
            <a:ext cx="3105211" cy="822960"/>
          </a:xfrm>
          <a:prstGeom prst="rect">
            <a:avLst/>
          </a:prstGeom>
          <a:noFill/>
        </p:spPr>
        <p:txBody>
          <a:bodyPr wrap="square" anchor="t" lIns="0" rIns="0" tIns="0" bIns="0">
            <a:spAutoFit/>
          </a:bodyPr>
          <a:lstStyle/>
          <a:p>
            <a:pPr algn="l">
              <a:lnSpc>
                <a:spcPct val="122000"/>
              </a:lnSpc>
            </a:pPr>
            <a:r>
              <a:rPr sz="1350" b="0" i="0">
                <a:solidFill>
                  <a:srgbClr val="4B5768"/>
                </a:solidFill>
                <a:latin typeface="Calibri"/>
              </a:rPr>
              <a:t>combinaciones:</a:t>
            </a:r>
          </a:p>
          <a:p>
            <a:pPr algn="l">
              <a:lnSpc>
                <a:spcPct val="122000"/>
              </a:lnSpc>
            </a:pPr>
            <a:r>
              <a:rPr sz="1350" b="0" i="0">
                <a:solidFill>
                  <a:srgbClr val="4B5768"/>
                </a:solidFill>
                <a:latin typeface="Calibri"/>
              </a:rPr>
              <a:t>5 sabores × 2 tamaños × 2 niveles de hielo</a:t>
            </a:r>
          </a:p>
        </p:txBody>
      </p:sp>
      <p:sp>
        <p:nvSpPr>
          <p:cNvPr id="7" name="TextBox 6"/>
          <p:cNvSpPr txBox="1"/>
          <p:nvPr/>
        </p:nvSpPr>
        <p:spPr>
          <a:xfrm>
            <a:off x="4359554" y="1828800"/>
            <a:ext cx="3105211" cy="365760"/>
          </a:xfrm>
          <a:prstGeom prst="rect">
            <a:avLst/>
          </a:prstGeom>
          <a:noFill/>
        </p:spPr>
        <p:txBody>
          <a:bodyPr wrap="square" anchor="t" lIns="0" rIns="0" tIns="0" bIns="0">
            <a:spAutoFit/>
          </a:bodyPr>
          <a:lstStyle/>
          <a:p>
            <a:pPr algn="l">
              <a:lnSpc>
                <a:spcPct val="112000"/>
              </a:lnSpc>
            </a:pPr>
            <a:r>
              <a:rPr sz="1300" b="1" i="0" spc="150">
                <a:solidFill>
                  <a:srgbClr val="4B5768"/>
                </a:solidFill>
                <a:latin typeface="Calibri"/>
              </a:rPr>
              <a:t>ANTES</a:t>
            </a:r>
          </a:p>
        </p:txBody>
      </p:sp>
      <p:sp>
        <p:nvSpPr>
          <p:cNvPr id="8" name="Rounded Rectangle 7"/>
          <p:cNvSpPr/>
          <p:nvPr/>
        </p:nvSpPr>
        <p:spPr>
          <a:xfrm>
            <a:off x="4359554" y="2286000"/>
            <a:ext cx="3105211" cy="566928"/>
          </a:xfrm>
          <a:prstGeom prst="roundRect">
            <a:avLst>
              <a:gd name="adj" fmla="val 2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32706" y="2286000"/>
            <a:ext cx="2958907" cy="566928"/>
          </a:xfrm>
          <a:prstGeom prst="rect">
            <a:avLst/>
          </a:prstGeom>
          <a:noFill/>
        </p:spPr>
        <p:txBody>
          <a:bodyPr wrap="square" anchor="ctr" lIns="0" rIns="0" tIns="0" bIns="0">
            <a:spAutoFit/>
          </a:bodyPr>
          <a:lstStyle/>
          <a:p>
            <a:pPr algn="ctr">
              <a:lnSpc>
                <a:spcPct val="105000"/>
              </a:lnSpc>
            </a:pPr>
            <a:r>
              <a:rPr sz="1350" b="0" i="0">
                <a:solidFill>
                  <a:srgbClr val="16233F"/>
                </a:solidFill>
                <a:latin typeface="Calibri"/>
              </a:rPr>
              <a:t>Sabor (5 categorías)</a:t>
            </a:r>
          </a:p>
        </p:txBody>
      </p:sp>
      <p:sp>
        <p:nvSpPr>
          <p:cNvPr id="10" name="Rounded Rectangle 9"/>
          <p:cNvSpPr/>
          <p:nvPr/>
        </p:nvSpPr>
        <p:spPr>
          <a:xfrm>
            <a:off x="4359554" y="2999232"/>
            <a:ext cx="3105211" cy="566928"/>
          </a:xfrm>
          <a:prstGeom prst="roundRect">
            <a:avLst>
              <a:gd name="adj" fmla="val 2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2706" y="2999232"/>
            <a:ext cx="2958907" cy="566928"/>
          </a:xfrm>
          <a:prstGeom prst="rect">
            <a:avLst/>
          </a:prstGeom>
          <a:noFill/>
        </p:spPr>
        <p:txBody>
          <a:bodyPr wrap="square" anchor="ctr" lIns="0" rIns="0" tIns="0" bIns="0">
            <a:spAutoFit/>
          </a:bodyPr>
          <a:lstStyle/>
          <a:p>
            <a:pPr algn="ctr">
              <a:lnSpc>
                <a:spcPct val="105000"/>
              </a:lnSpc>
            </a:pPr>
            <a:r>
              <a:rPr sz="1350" b="0" i="0">
                <a:solidFill>
                  <a:srgbClr val="16233F"/>
                </a:solidFill>
                <a:latin typeface="Calibri"/>
              </a:rPr>
              <a:t>Tamaño: Chica / Grande</a:t>
            </a:r>
          </a:p>
        </p:txBody>
      </p:sp>
      <p:sp>
        <p:nvSpPr>
          <p:cNvPr id="12" name="Rounded Rectangle 11"/>
          <p:cNvSpPr/>
          <p:nvPr/>
        </p:nvSpPr>
        <p:spPr>
          <a:xfrm>
            <a:off x="4359554" y="3712464"/>
            <a:ext cx="3105211" cy="566928"/>
          </a:xfrm>
          <a:prstGeom prst="roundRect">
            <a:avLst>
              <a:gd name="adj" fmla="val 2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2706" y="3712464"/>
            <a:ext cx="2958907" cy="566928"/>
          </a:xfrm>
          <a:prstGeom prst="rect">
            <a:avLst/>
          </a:prstGeom>
          <a:noFill/>
        </p:spPr>
        <p:txBody>
          <a:bodyPr wrap="square" anchor="ctr" lIns="0" rIns="0" tIns="0" bIns="0">
            <a:spAutoFit/>
          </a:bodyPr>
          <a:lstStyle/>
          <a:p>
            <a:pPr algn="ctr">
              <a:lnSpc>
                <a:spcPct val="105000"/>
              </a:lnSpc>
            </a:pPr>
            <a:r>
              <a:rPr sz="1350" b="0" i="0">
                <a:solidFill>
                  <a:srgbClr val="16233F"/>
                </a:solidFill>
                <a:latin typeface="Calibri"/>
              </a:rPr>
              <a:t>Hielo: No / Sí</a:t>
            </a:r>
          </a:p>
        </p:txBody>
      </p:sp>
      <p:sp>
        <p:nvSpPr>
          <p:cNvPr id="14" name="TextBox 13"/>
          <p:cNvSpPr txBox="1"/>
          <p:nvPr/>
        </p:nvSpPr>
        <p:spPr>
          <a:xfrm>
            <a:off x="7665933" y="2788920"/>
            <a:ext cx="640080" cy="548640"/>
          </a:xfrm>
          <a:prstGeom prst="rect">
            <a:avLst/>
          </a:prstGeom>
          <a:noFill/>
        </p:spPr>
        <p:txBody>
          <a:bodyPr wrap="square" anchor="t" lIns="0" rIns="0" tIns="0" bIns="0">
            <a:spAutoFit/>
          </a:bodyPr>
          <a:lstStyle/>
          <a:p>
            <a:pPr algn="ctr">
              <a:lnSpc>
                <a:spcPct val="112000"/>
              </a:lnSpc>
            </a:pPr>
            <a:r>
              <a:rPr sz="3000" b="1" i="0">
                <a:solidFill>
                  <a:srgbClr val="4B5768"/>
                </a:solidFill>
                <a:latin typeface="Calibri"/>
              </a:rPr>
              <a:t>→</a:t>
            </a:r>
          </a:p>
        </p:txBody>
      </p:sp>
      <p:sp>
        <p:nvSpPr>
          <p:cNvPr id="15" name="TextBox 14"/>
          <p:cNvSpPr txBox="1"/>
          <p:nvPr/>
        </p:nvSpPr>
        <p:spPr>
          <a:xfrm>
            <a:off x="8400684" y="1828800"/>
            <a:ext cx="3105211" cy="365760"/>
          </a:xfrm>
          <a:prstGeom prst="rect">
            <a:avLst/>
          </a:prstGeom>
          <a:noFill/>
        </p:spPr>
        <p:txBody>
          <a:bodyPr wrap="square" anchor="t" lIns="0" rIns="0" tIns="0" bIns="0">
            <a:spAutoFit/>
          </a:bodyPr>
          <a:lstStyle/>
          <a:p>
            <a:pPr algn="l">
              <a:lnSpc>
                <a:spcPct val="112000"/>
              </a:lnSpc>
            </a:pPr>
            <a:r>
              <a:rPr sz="1300" b="1" i="0" spc="150">
                <a:solidFill>
                  <a:srgbClr val="4B5768"/>
                </a:solidFill>
                <a:latin typeface="Calibri"/>
              </a:rPr>
              <a:t>DESPUÉS</a:t>
            </a:r>
          </a:p>
        </p:txBody>
      </p:sp>
      <p:sp>
        <p:nvSpPr>
          <p:cNvPr id="16" name="TextBox 15"/>
          <p:cNvSpPr txBox="1"/>
          <p:nvPr/>
        </p:nvSpPr>
        <p:spPr>
          <a:xfrm>
            <a:off x="8400684" y="2286000"/>
            <a:ext cx="3105211" cy="320040"/>
          </a:xfrm>
          <a:prstGeom prst="rect">
            <a:avLst/>
          </a:prstGeom>
          <a:noFill/>
        </p:spPr>
        <p:txBody>
          <a:bodyPr wrap="square" anchor="t" lIns="0" rIns="0" tIns="0" bIns="0">
            <a:spAutoFit/>
          </a:bodyPr>
          <a:lstStyle/>
          <a:p>
            <a:pPr algn="l">
              <a:lnSpc>
                <a:spcPct val="112000"/>
              </a:lnSpc>
            </a:pPr>
            <a:r>
              <a:rPr sz="1250" b="0" i="1">
                <a:solidFill>
                  <a:srgbClr val="4B5768"/>
                </a:solidFill>
                <a:latin typeface="Calibri"/>
              </a:rPr>
              <a:t>Ordinal (Tamaño, Hielo): 0 / 1</a:t>
            </a:r>
          </a:p>
        </p:txBody>
      </p:sp>
      <p:sp>
        <p:nvSpPr>
          <p:cNvPr id="17" name="Rounded Rectangle 16"/>
          <p:cNvSpPr/>
          <p:nvPr/>
        </p:nvSpPr>
        <p:spPr>
          <a:xfrm>
            <a:off x="8400684" y="2633472"/>
            <a:ext cx="3105211" cy="457200"/>
          </a:xfrm>
          <a:prstGeom prst="roundRect">
            <a:avLst>
              <a:gd name="adj" fmla="val 28000"/>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73836" y="2633472"/>
            <a:ext cx="2958907" cy="457200"/>
          </a:xfrm>
          <a:prstGeom prst="rect">
            <a:avLst/>
          </a:prstGeom>
          <a:noFill/>
        </p:spPr>
        <p:txBody>
          <a:bodyPr wrap="square" anchor="ctr" lIns="0" rIns="0" tIns="0" bIns="0">
            <a:spAutoFit/>
          </a:bodyPr>
          <a:lstStyle/>
          <a:p>
            <a:pPr algn="ctr">
              <a:lnSpc>
                <a:spcPct val="105000"/>
              </a:lnSpc>
            </a:pPr>
            <a:r>
              <a:rPr sz="1250" b="1" i="0">
                <a:solidFill>
                  <a:srgbClr val="FFFFFF"/>
                </a:solidFill>
                <a:latin typeface="Calibri"/>
              </a:rPr>
              <a:t>Naranja  →  0 / 1</a:t>
            </a:r>
          </a:p>
        </p:txBody>
      </p:sp>
      <p:sp>
        <p:nvSpPr>
          <p:cNvPr id="19" name="Rounded Rectangle 18"/>
          <p:cNvSpPr/>
          <p:nvPr/>
        </p:nvSpPr>
        <p:spPr>
          <a:xfrm>
            <a:off x="8400684" y="3200400"/>
            <a:ext cx="3105211" cy="457200"/>
          </a:xfrm>
          <a:prstGeom prst="roundRect">
            <a:avLst>
              <a:gd name="adj" fmla="val 28000"/>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73836" y="3200400"/>
            <a:ext cx="2958907" cy="457200"/>
          </a:xfrm>
          <a:prstGeom prst="rect">
            <a:avLst/>
          </a:prstGeom>
          <a:noFill/>
        </p:spPr>
        <p:txBody>
          <a:bodyPr wrap="square" anchor="ctr" lIns="0" rIns="0" tIns="0" bIns="0">
            <a:spAutoFit/>
          </a:bodyPr>
          <a:lstStyle/>
          <a:p>
            <a:pPr algn="ctr">
              <a:lnSpc>
                <a:spcPct val="105000"/>
              </a:lnSpc>
            </a:pPr>
            <a:r>
              <a:rPr sz="1250" b="1" i="0">
                <a:solidFill>
                  <a:srgbClr val="FFFFFF"/>
                </a:solidFill>
                <a:latin typeface="Calibri"/>
              </a:rPr>
              <a:t>Coco  →  0 / 1</a:t>
            </a:r>
          </a:p>
        </p:txBody>
      </p:sp>
      <p:sp>
        <p:nvSpPr>
          <p:cNvPr id="21" name="Rounded Rectangle 20"/>
          <p:cNvSpPr/>
          <p:nvPr/>
        </p:nvSpPr>
        <p:spPr>
          <a:xfrm>
            <a:off x="8400684" y="3767328"/>
            <a:ext cx="3105211" cy="457200"/>
          </a:xfrm>
          <a:prstGeom prst="roundRect">
            <a:avLst>
              <a:gd name="adj" fmla="val 28000"/>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73836" y="3767328"/>
            <a:ext cx="2958907" cy="457200"/>
          </a:xfrm>
          <a:prstGeom prst="rect">
            <a:avLst/>
          </a:prstGeom>
          <a:noFill/>
        </p:spPr>
        <p:txBody>
          <a:bodyPr wrap="square" anchor="ctr" lIns="0" rIns="0" tIns="0" bIns="0">
            <a:spAutoFit/>
          </a:bodyPr>
          <a:lstStyle/>
          <a:p>
            <a:pPr algn="ctr">
              <a:lnSpc>
                <a:spcPct val="105000"/>
              </a:lnSpc>
            </a:pPr>
            <a:r>
              <a:rPr sz="1250" b="1" i="0">
                <a:solidFill>
                  <a:srgbClr val="FFFFFF"/>
                </a:solidFill>
                <a:latin typeface="Calibri"/>
              </a:rPr>
              <a:t>Kahlúa  →  0 / 1</a:t>
            </a:r>
          </a:p>
        </p:txBody>
      </p:sp>
      <p:sp>
        <p:nvSpPr>
          <p:cNvPr id="23" name="Rounded Rectangle 22"/>
          <p:cNvSpPr/>
          <p:nvPr/>
        </p:nvSpPr>
        <p:spPr>
          <a:xfrm>
            <a:off x="8400684" y="4334256"/>
            <a:ext cx="3105211" cy="457200"/>
          </a:xfrm>
          <a:prstGeom prst="roundRect">
            <a:avLst>
              <a:gd name="adj" fmla="val 28000"/>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73836" y="4334256"/>
            <a:ext cx="2958907" cy="457200"/>
          </a:xfrm>
          <a:prstGeom prst="rect">
            <a:avLst/>
          </a:prstGeom>
          <a:noFill/>
        </p:spPr>
        <p:txBody>
          <a:bodyPr wrap="square" anchor="ctr" lIns="0" rIns="0" tIns="0" bIns="0">
            <a:spAutoFit/>
          </a:bodyPr>
          <a:lstStyle/>
          <a:p>
            <a:pPr algn="ctr">
              <a:lnSpc>
                <a:spcPct val="105000"/>
              </a:lnSpc>
            </a:pPr>
            <a:r>
              <a:rPr sz="1250" b="1" i="0">
                <a:solidFill>
                  <a:srgbClr val="FFFFFF"/>
                </a:solidFill>
                <a:latin typeface="Calibri"/>
              </a:rPr>
              <a:t>Fresa-piña  →  0 / 1</a:t>
            </a:r>
          </a:p>
        </p:txBody>
      </p:sp>
      <p:sp>
        <p:nvSpPr>
          <p:cNvPr id="25" name="Rounded Rectangle 24"/>
          <p:cNvSpPr/>
          <p:nvPr/>
        </p:nvSpPr>
        <p:spPr>
          <a:xfrm>
            <a:off x="8400684" y="4901184"/>
            <a:ext cx="3105211" cy="457200"/>
          </a:xfrm>
          <a:prstGeom prst="roundRect">
            <a:avLst>
              <a:gd name="adj" fmla="val 28000"/>
            </a:avLst>
          </a:prstGeom>
          <a:solidFill>
            <a:srgbClr val="2E6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73836" y="4901184"/>
            <a:ext cx="2958907" cy="457200"/>
          </a:xfrm>
          <a:prstGeom prst="rect">
            <a:avLst/>
          </a:prstGeom>
          <a:noFill/>
        </p:spPr>
        <p:txBody>
          <a:bodyPr wrap="square" anchor="ctr" lIns="0" rIns="0" tIns="0" bIns="0">
            <a:spAutoFit/>
          </a:bodyPr>
          <a:lstStyle/>
          <a:p>
            <a:pPr algn="ctr">
              <a:lnSpc>
                <a:spcPct val="105000"/>
              </a:lnSpc>
            </a:pPr>
            <a:r>
              <a:rPr sz="1250" b="1" i="0">
                <a:solidFill>
                  <a:srgbClr val="FFFFFF"/>
                </a:solidFill>
                <a:latin typeface="Calibri"/>
              </a:rPr>
              <a:t>Sandía  →  0 / 1</a:t>
            </a:r>
          </a:p>
        </p:txBody>
      </p:sp>
      <p:sp>
        <p:nvSpPr>
          <p:cNvPr id="27" name="Rounded Rectangle 26"/>
          <p:cNvSpPr/>
          <p:nvPr/>
        </p:nvSpPr>
        <p:spPr>
          <a:xfrm>
            <a:off x="685800" y="5532120"/>
            <a:ext cx="10820095" cy="777240"/>
          </a:xfrm>
          <a:prstGeom prst="roundRect">
            <a:avLst>
              <a:gd name="adj" fmla="val 8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1832" y="5532120"/>
            <a:ext cx="10308031" cy="777240"/>
          </a:xfrm>
          <a:prstGeom prst="rect">
            <a:avLst/>
          </a:prstGeom>
          <a:noFill/>
        </p:spPr>
        <p:txBody>
          <a:bodyPr wrap="square" anchor="ctr" lIns="0" rIns="0" tIns="0" bIns="0">
            <a:spAutoFit/>
          </a:bodyPr>
          <a:lstStyle/>
          <a:p>
            <a:pPr algn="l">
              <a:lnSpc>
                <a:spcPct val="112000"/>
              </a:lnSpc>
            </a:pPr>
            <a:r>
              <a:rPr sz="1450" b="0" i="1">
                <a:solidFill>
                  <a:srgbClr val="16233F"/>
                </a:solidFill>
                <a:latin typeface="Calibri"/>
              </a:rPr>
              <a:t>Se comprobó con sklearn (OrdinalEncoder y OneHotEncoder): los coeficientes salen idénticos a los del proceso manual con pandas y NumPy.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8951747" y="530352"/>
            <a:ext cx="2554148" cy="274320"/>
          </a:xfrm>
          <a:prstGeom prst="rect">
            <a:avLst/>
          </a:prstGeom>
          <a:noFill/>
        </p:spPr>
        <p:txBody>
          <a:bodyPr wrap="square" anchor="t" lIns="0" rIns="0" tIns="0" bIns="0">
            <a:spAutoFit/>
          </a:bodyPr>
          <a:lstStyle/>
          <a:p>
            <a:pPr algn="r">
              <a:lnSpc>
                <a:spcPct val="112000"/>
              </a:lnSpc>
            </a:pPr>
            <a:r>
              <a:rPr sz="1100" b="1" i="0" spc="130">
                <a:solidFill>
                  <a:srgbClr val="4B5768"/>
                </a:solidFill>
                <a:latin typeface="Calibri"/>
              </a:rPr>
              <a:t>05 · CODIFICACIÓN</a:t>
            </a:r>
          </a:p>
        </p:txBody>
      </p:sp>
      <p:sp>
        <p:nvSpPr>
          <p:cNvPr id="3" name="TextBox 2"/>
          <p:cNvSpPr txBox="1"/>
          <p:nvPr/>
        </p:nvSpPr>
        <p:spPr>
          <a:xfrm>
            <a:off x="685800" y="502920"/>
            <a:ext cx="10820095" cy="292608"/>
          </a:xfrm>
          <a:prstGeom prst="rect">
            <a:avLst/>
          </a:prstGeom>
          <a:noFill/>
        </p:spPr>
        <p:txBody>
          <a:bodyPr wrap="square" anchor="t" lIns="0" rIns="0" tIns="0" bIns="0">
            <a:spAutoFit/>
          </a:bodyPr>
          <a:lstStyle/>
          <a:p>
            <a:pPr algn="l">
              <a:lnSpc>
                <a:spcPct val="112000"/>
              </a:lnSpc>
            </a:pPr>
            <a:r>
              <a:rPr sz="1250" b="1" i="0" spc="200">
                <a:solidFill>
                  <a:srgbClr val="2E6F9E"/>
                </a:solidFill>
                <a:latin typeface="Calibri"/>
              </a:rPr>
              <a:t>REGRESIÓN OLS SOBRE CALIFICACIÓN</a:t>
            </a:r>
          </a:p>
        </p:txBody>
      </p:sp>
      <p:sp>
        <p:nvSpPr>
          <p:cNvPr id="4" name="TextBox 3"/>
          <p:cNvSpPr txBox="1"/>
          <p:nvPr/>
        </p:nvSpPr>
        <p:spPr>
          <a:xfrm>
            <a:off x="685800" y="786384"/>
            <a:ext cx="10820095" cy="960120"/>
          </a:xfrm>
          <a:prstGeom prst="rect">
            <a:avLst/>
          </a:prstGeom>
          <a:noFill/>
        </p:spPr>
        <p:txBody>
          <a:bodyPr wrap="square" anchor="t" lIns="0" rIns="0" tIns="0" bIns="0">
            <a:spAutoFit/>
          </a:bodyPr>
          <a:lstStyle/>
          <a:p>
            <a:pPr algn="l">
              <a:lnSpc>
                <a:spcPct val="105000"/>
              </a:lnSpc>
            </a:pPr>
            <a:r>
              <a:rPr sz="3200" b="1" i="0">
                <a:solidFill>
                  <a:srgbClr val="16233F"/>
                </a:solidFill>
                <a:latin typeface="Cambria"/>
              </a:rPr>
              <a:t>Kahlúa y el hielo suben más la calificación que el tamaño</a:t>
            </a:r>
          </a:p>
        </p:txBody>
      </p:sp>
      <p:graphicFrame>
        <p:nvGraphicFramePr>
          <p:cNvPr id="5" name="Chart 4"/>
          <p:cNvGraphicFramePr>
            <a:graphicFrameLocks noGrp="1"/>
          </p:cNvGraphicFramePr>
          <p:nvPr/>
        </p:nvGraphicFramePr>
        <p:xfrm>
          <a:off x="685800" y="1874519"/>
          <a:ext cx="7513716" cy="3657600"/>
        </p:xfrm>
        <a:graphic>
          <a:graphicData uri="http://schemas.openxmlformats.org/drawingml/2006/chart">
            <c:chart xmlns:c="http://schemas.openxmlformats.org/drawingml/2006/chart" r:id="rId2"/>
          </a:graphicData>
        </a:graphic>
      </p:graphicFrame>
      <p:sp>
        <p:nvSpPr>
          <p:cNvPr id="6" name="TextBox 5"/>
          <p:cNvSpPr txBox="1"/>
          <p:nvPr/>
        </p:nvSpPr>
        <p:spPr>
          <a:xfrm>
            <a:off x="8676216" y="1874519"/>
            <a:ext cx="2829679" cy="960120"/>
          </a:xfrm>
          <a:prstGeom prst="rect">
            <a:avLst/>
          </a:prstGeom>
          <a:noFill/>
        </p:spPr>
        <p:txBody>
          <a:bodyPr wrap="square" anchor="t" lIns="0" rIns="0" tIns="0" bIns="0">
            <a:spAutoFit/>
          </a:bodyPr>
          <a:lstStyle/>
          <a:p>
            <a:pPr algn="l">
              <a:lnSpc>
                <a:spcPct val="100000"/>
              </a:lnSpc>
            </a:pPr>
            <a:r>
              <a:rPr sz="4400" b="1" i="0">
                <a:solidFill>
                  <a:srgbClr val="2E6F9E"/>
                </a:solidFill>
                <a:latin typeface="Cambria"/>
              </a:rPr>
              <a:t>0.927</a:t>
            </a:r>
          </a:p>
        </p:txBody>
      </p:sp>
      <p:sp>
        <p:nvSpPr>
          <p:cNvPr id="7" name="TextBox 6"/>
          <p:cNvSpPr txBox="1"/>
          <p:nvPr/>
        </p:nvSpPr>
        <p:spPr>
          <a:xfrm>
            <a:off x="8676216" y="2788919"/>
            <a:ext cx="2829679" cy="822960"/>
          </a:xfrm>
          <a:prstGeom prst="rect">
            <a:avLst/>
          </a:prstGeom>
          <a:noFill/>
        </p:spPr>
        <p:txBody>
          <a:bodyPr wrap="square" anchor="t" lIns="0" rIns="0" tIns="0" bIns="0">
            <a:spAutoFit/>
          </a:bodyPr>
          <a:lstStyle/>
          <a:p>
            <a:pPr algn="l">
              <a:lnSpc>
                <a:spcPct val="122000"/>
              </a:lnSpc>
            </a:pPr>
            <a:r>
              <a:rPr sz="1350" b="0" i="0">
                <a:solidFill>
                  <a:srgbClr val="4B5768"/>
                </a:solidFill>
                <a:latin typeface="Calibri"/>
              </a:rPr>
              <a:t>R² del modelo</a:t>
            </a:r>
          </a:p>
          <a:p>
            <a:pPr algn="l">
              <a:lnSpc>
                <a:spcPct val="122000"/>
              </a:lnSpc>
            </a:pPr>
            <a:r>
              <a:rPr sz="1350" b="0" i="0">
                <a:solidFill>
                  <a:srgbClr val="4B5768"/>
                </a:solidFill>
                <a:latin typeface="Calibri"/>
              </a:rPr>
              <a:t>con todas las variables</a:t>
            </a:r>
          </a:p>
        </p:txBody>
      </p:sp>
      <p:sp>
        <p:nvSpPr>
          <p:cNvPr id="8" name="Rounded Rectangle 7"/>
          <p:cNvSpPr/>
          <p:nvPr/>
        </p:nvSpPr>
        <p:spPr>
          <a:xfrm>
            <a:off x="8676216" y="3520440"/>
            <a:ext cx="2829679" cy="1920240"/>
          </a:xfrm>
          <a:prstGeom prst="roundRect">
            <a:avLst>
              <a:gd name="adj" fmla="val 8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59096" y="3675887"/>
            <a:ext cx="2463919" cy="1645920"/>
          </a:xfrm>
          <a:prstGeom prst="rect">
            <a:avLst/>
          </a:prstGeom>
          <a:noFill/>
        </p:spPr>
        <p:txBody>
          <a:bodyPr wrap="square" anchor="t" lIns="0" rIns="0" tIns="0" bIns="0">
            <a:spAutoFit/>
          </a:bodyPr>
          <a:lstStyle/>
          <a:p>
            <a:pPr algn="l">
              <a:lnSpc>
                <a:spcPct val="128000"/>
              </a:lnSpc>
            </a:pPr>
            <a:r>
              <a:rPr sz="1250" b="0" i="0">
                <a:solidFill>
                  <a:srgbClr val="16233F"/>
                </a:solidFill>
                <a:latin typeface="Calibri"/>
              </a:rPr>
              <a:t>Sandía es el único coeficiente negativo, y no es significativo (p = 0.486).</a:t>
            </a:r>
          </a:p>
          <a:p>
            <a:pPr algn="l">
              <a:lnSpc>
                <a:spcPct val="128000"/>
              </a:lnSpc>
            </a:pPr>
            <a:r>
              <a:rPr sz="1250" b="0" i="0">
                <a:solidFill>
                  <a:srgbClr val="16233F"/>
                </a:solidFill>
                <a:latin typeface="Calibri"/>
              </a:rPr>
              <a:t/>
            </a:r>
          </a:p>
          <a:p>
            <a:pPr algn="l">
              <a:lnSpc>
                <a:spcPct val="128000"/>
              </a:lnSpc>
            </a:pPr>
            <a:r>
              <a:rPr sz="1250" b="0" i="0">
                <a:solidFill>
                  <a:srgbClr val="16233F"/>
                </a:solidFill>
                <a:latin typeface="Calibri"/>
              </a:rPr>
              <a:t>Nota técnica: los 5 sabores más el intercepto son perfectamente colineales; statsmodels resuelve con pseudo-inversa.</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6233F"/>
        </a:solidFill>
        <a:effectLst/>
      </p:bgPr>
    </p:bg>
    <p:spTree>
      <p:nvGrpSpPr>
        <p:cNvPr id="1" name=""/>
        <p:cNvGrpSpPr/>
        <p:nvPr/>
      </p:nvGrpSpPr>
      <p:grpSpPr/>
      <p:sp>
        <p:nvSpPr>
          <p:cNvPr id="2" name="TextBox 1"/>
          <p:cNvSpPr txBox="1"/>
          <p:nvPr/>
        </p:nvSpPr>
        <p:spPr>
          <a:xfrm>
            <a:off x="685800" y="594360"/>
            <a:ext cx="10820095" cy="292608"/>
          </a:xfrm>
          <a:prstGeom prst="rect">
            <a:avLst/>
          </a:prstGeom>
          <a:noFill/>
        </p:spPr>
        <p:txBody>
          <a:bodyPr wrap="square" anchor="t" lIns="0" rIns="0" tIns="0" bIns="0">
            <a:spAutoFit/>
          </a:bodyPr>
          <a:lstStyle/>
          <a:p>
            <a:pPr algn="l">
              <a:lnSpc>
                <a:spcPct val="112000"/>
              </a:lnSpc>
            </a:pPr>
            <a:r>
              <a:rPr sz="1250" b="1" i="0" spc="200">
                <a:solidFill>
                  <a:srgbClr val="E1962E"/>
                </a:solidFill>
                <a:latin typeface="Calibri"/>
              </a:rPr>
              <a:t>CIERRE</a:t>
            </a:r>
          </a:p>
        </p:txBody>
      </p:sp>
      <p:sp>
        <p:nvSpPr>
          <p:cNvPr id="3" name="TextBox 2"/>
          <p:cNvSpPr txBox="1"/>
          <p:nvPr/>
        </p:nvSpPr>
        <p:spPr>
          <a:xfrm>
            <a:off x="685800" y="960120"/>
            <a:ext cx="10820095" cy="822960"/>
          </a:xfrm>
          <a:prstGeom prst="rect">
            <a:avLst/>
          </a:prstGeom>
          <a:noFill/>
        </p:spPr>
        <p:txBody>
          <a:bodyPr wrap="square" anchor="t" lIns="0" rIns="0" tIns="0" bIns="0">
            <a:spAutoFit/>
          </a:bodyPr>
          <a:lstStyle/>
          <a:p>
            <a:pPr algn="l">
              <a:lnSpc>
                <a:spcPct val="112000"/>
              </a:lnSpc>
            </a:pPr>
            <a:r>
              <a:rPr sz="3800" b="1" i="0">
                <a:solidFill>
                  <a:srgbClr val="FFFFFF"/>
                </a:solidFill>
                <a:latin typeface="Cambria"/>
              </a:rPr>
              <a:t>De una recta a un pipeline completo</a:t>
            </a:r>
          </a:p>
        </p:txBody>
      </p:sp>
      <p:sp>
        <p:nvSpPr>
          <p:cNvPr id="4" name="TextBox 3"/>
          <p:cNvSpPr txBox="1"/>
          <p:nvPr/>
        </p:nvSpPr>
        <p:spPr>
          <a:xfrm>
            <a:off x="685800" y="1965960"/>
            <a:ext cx="1681429" cy="457200"/>
          </a:xfrm>
          <a:prstGeom prst="rect">
            <a:avLst/>
          </a:prstGeom>
          <a:noFill/>
        </p:spPr>
        <p:txBody>
          <a:bodyPr wrap="square" anchor="t" lIns="0" rIns="0" tIns="0" bIns="0">
            <a:spAutoFit/>
          </a:bodyPr>
          <a:lstStyle/>
          <a:p>
            <a:pPr algn="ctr">
              <a:lnSpc>
                <a:spcPct val="112000"/>
              </a:lnSpc>
            </a:pPr>
            <a:r>
              <a:rPr sz="2200" b="1" i="0">
                <a:solidFill>
                  <a:srgbClr val="E1962E"/>
                </a:solidFill>
                <a:latin typeface="Cambria"/>
              </a:rPr>
              <a:t>01</a:t>
            </a:r>
          </a:p>
        </p:txBody>
      </p:sp>
      <p:sp>
        <p:nvSpPr>
          <p:cNvPr id="5" name="TextBox 4"/>
          <p:cNvSpPr txBox="1"/>
          <p:nvPr/>
        </p:nvSpPr>
        <p:spPr>
          <a:xfrm>
            <a:off x="685800" y="2423160"/>
            <a:ext cx="1681429" cy="365760"/>
          </a:xfrm>
          <a:prstGeom prst="rect">
            <a:avLst/>
          </a:prstGeom>
          <a:noFill/>
        </p:spPr>
        <p:txBody>
          <a:bodyPr wrap="square" anchor="t" lIns="0" rIns="0" tIns="0" bIns="0">
            <a:spAutoFit/>
          </a:bodyPr>
          <a:lstStyle/>
          <a:p>
            <a:pPr algn="ctr">
              <a:lnSpc>
                <a:spcPct val="112000"/>
              </a:lnSpc>
            </a:pPr>
            <a:r>
              <a:rPr sz="1250" b="0" i="0">
                <a:solidFill>
                  <a:srgbClr val="C9D3E0"/>
                </a:solidFill>
                <a:latin typeface="Calibri"/>
              </a:rPr>
              <a:t>Simple</a:t>
            </a:r>
          </a:p>
        </p:txBody>
      </p:sp>
      <p:sp>
        <p:nvSpPr>
          <p:cNvPr id="6" name="TextBox 5"/>
          <p:cNvSpPr txBox="1"/>
          <p:nvPr/>
        </p:nvSpPr>
        <p:spPr>
          <a:xfrm>
            <a:off x="2970466" y="1965960"/>
            <a:ext cx="1681429" cy="457200"/>
          </a:xfrm>
          <a:prstGeom prst="rect">
            <a:avLst/>
          </a:prstGeom>
          <a:noFill/>
        </p:spPr>
        <p:txBody>
          <a:bodyPr wrap="square" anchor="t" lIns="0" rIns="0" tIns="0" bIns="0">
            <a:spAutoFit/>
          </a:bodyPr>
          <a:lstStyle/>
          <a:p>
            <a:pPr algn="ctr">
              <a:lnSpc>
                <a:spcPct val="112000"/>
              </a:lnSpc>
            </a:pPr>
            <a:r>
              <a:rPr sz="2200" b="1" i="0">
                <a:solidFill>
                  <a:srgbClr val="E1962E"/>
                </a:solidFill>
                <a:latin typeface="Cambria"/>
              </a:rPr>
              <a:t>02</a:t>
            </a:r>
          </a:p>
        </p:txBody>
      </p:sp>
      <p:sp>
        <p:nvSpPr>
          <p:cNvPr id="7" name="TextBox 6"/>
          <p:cNvSpPr txBox="1"/>
          <p:nvPr/>
        </p:nvSpPr>
        <p:spPr>
          <a:xfrm>
            <a:off x="2970466" y="2423160"/>
            <a:ext cx="1681429" cy="365760"/>
          </a:xfrm>
          <a:prstGeom prst="rect">
            <a:avLst/>
          </a:prstGeom>
          <a:noFill/>
        </p:spPr>
        <p:txBody>
          <a:bodyPr wrap="square" anchor="t" lIns="0" rIns="0" tIns="0" bIns="0">
            <a:spAutoFit/>
          </a:bodyPr>
          <a:lstStyle/>
          <a:p>
            <a:pPr algn="ctr">
              <a:lnSpc>
                <a:spcPct val="112000"/>
              </a:lnSpc>
            </a:pPr>
            <a:r>
              <a:rPr sz="1250" b="0" i="0">
                <a:solidFill>
                  <a:srgbClr val="C9D3E0"/>
                </a:solidFill>
                <a:latin typeface="Calibri"/>
              </a:rPr>
              <a:t>Significancia</a:t>
            </a:r>
          </a:p>
        </p:txBody>
      </p:sp>
      <p:sp>
        <p:nvSpPr>
          <p:cNvPr id="8" name="TextBox 7"/>
          <p:cNvSpPr txBox="1"/>
          <p:nvPr/>
        </p:nvSpPr>
        <p:spPr>
          <a:xfrm>
            <a:off x="5255133" y="1965960"/>
            <a:ext cx="1681429" cy="457200"/>
          </a:xfrm>
          <a:prstGeom prst="rect">
            <a:avLst/>
          </a:prstGeom>
          <a:noFill/>
        </p:spPr>
        <p:txBody>
          <a:bodyPr wrap="square" anchor="t" lIns="0" rIns="0" tIns="0" bIns="0">
            <a:spAutoFit/>
          </a:bodyPr>
          <a:lstStyle/>
          <a:p>
            <a:pPr algn="ctr">
              <a:lnSpc>
                <a:spcPct val="112000"/>
              </a:lnSpc>
            </a:pPr>
            <a:r>
              <a:rPr sz="2200" b="1" i="0">
                <a:solidFill>
                  <a:srgbClr val="E1962E"/>
                </a:solidFill>
                <a:latin typeface="Cambria"/>
              </a:rPr>
              <a:t>03</a:t>
            </a:r>
          </a:p>
        </p:txBody>
      </p:sp>
      <p:sp>
        <p:nvSpPr>
          <p:cNvPr id="9" name="TextBox 8"/>
          <p:cNvSpPr txBox="1"/>
          <p:nvPr/>
        </p:nvSpPr>
        <p:spPr>
          <a:xfrm>
            <a:off x="5255133" y="2423160"/>
            <a:ext cx="1681429" cy="365760"/>
          </a:xfrm>
          <a:prstGeom prst="rect">
            <a:avLst/>
          </a:prstGeom>
          <a:noFill/>
        </p:spPr>
        <p:txBody>
          <a:bodyPr wrap="square" anchor="t" lIns="0" rIns="0" tIns="0" bIns="0">
            <a:spAutoFit/>
          </a:bodyPr>
          <a:lstStyle/>
          <a:p>
            <a:pPr algn="ctr">
              <a:lnSpc>
                <a:spcPct val="112000"/>
              </a:lnSpc>
            </a:pPr>
            <a:r>
              <a:rPr sz="1250" b="0" i="0">
                <a:solidFill>
                  <a:srgbClr val="C9D3E0"/>
                </a:solidFill>
                <a:latin typeface="Calibri"/>
              </a:rPr>
              <a:t>Múltiple</a:t>
            </a:r>
          </a:p>
        </p:txBody>
      </p:sp>
      <p:sp>
        <p:nvSpPr>
          <p:cNvPr id="10" name="TextBox 9"/>
          <p:cNvSpPr txBox="1"/>
          <p:nvPr/>
        </p:nvSpPr>
        <p:spPr>
          <a:xfrm>
            <a:off x="7539799" y="1965960"/>
            <a:ext cx="1681429" cy="457200"/>
          </a:xfrm>
          <a:prstGeom prst="rect">
            <a:avLst/>
          </a:prstGeom>
          <a:noFill/>
        </p:spPr>
        <p:txBody>
          <a:bodyPr wrap="square" anchor="t" lIns="0" rIns="0" tIns="0" bIns="0">
            <a:spAutoFit/>
          </a:bodyPr>
          <a:lstStyle/>
          <a:p>
            <a:pPr algn="ctr">
              <a:lnSpc>
                <a:spcPct val="112000"/>
              </a:lnSpc>
            </a:pPr>
            <a:r>
              <a:rPr sz="2200" b="1" i="0">
                <a:solidFill>
                  <a:srgbClr val="E1962E"/>
                </a:solidFill>
                <a:latin typeface="Cambria"/>
              </a:rPr>
              <a:t>04</a:t>
            </a:r>
          </a:p>
        </p:txBody>
      </p:sp>
      <p:sp>
        <p:nvSpPr>
          <p:cNvPr id="11" name="TextBox 10"/>
          <p:cNvSpPr txBox="1"/>
          <p:nvPr/>
        </p:nvSpPr>
        <p:spPr>
          <a:xfrm>
            <a:off x="7539799" y="2423160"/>
            <a:ext cx="1681429" cy="365760"/>
          </a:xfrm>
          <a:prstGeom prst="rect">
            <a:avLst/>
          </a:prstGeom>
          <a:noFill/>
        </p:spPr>
        <p:txBody>
          <a:bodyPr wrap="square" anchor="t" lIns="0" rIns="0" tIns="0" bIns="0">
            <a:spAutoFit/>
          </a:bodyPr>
          <a:lstStyle/>
          <a:p>
            <a:pPr algn="ctr">
              <a:lnSpc>
                <a:spcPct val="112000"/>
              </a:lnSpc>
            </a:pPr>
            <a:r>
              <a:rPr sz="1250" b="0" i="0">
                <a:solidFill>
                  <a:srgbClr val="C9D3E0"/>
                </a:solidFill>
                <a:latin typeface="Calibri"/>
              </a:rPr>
              <a:t>Escalamiento</a:t>
            </a:r>
          </a:p>
        </p:txBody>
      </p:sp>
      <p:sp>
        <p:nvSpPr>
          <p:cNvPr id="12" name="TextBox 11"/>
          <p:cNvSpPr txBox="1"/>
          <p:nvPr/>
        </p:nvSpPr>
        <p:spPr>
          <a:xfrm>
            <a:off x="9824466" y="1965960"/>
            <a:ext cx="1681429" cy="457200"/>
          </a:xfrm>
          <a:prstGeom prst="rect">
            <a:avLst/>
          </a:prstGeom>
          <a:noFill/>
        </p:spPr>
        <p:txBody>
          <a:bodyPr wrap="square" anchor="t" lIns="0" rIns="0" tIns="0" bIns="0">
            <a:spAutoFit/>
          </a:bodyPr>
          <a:lstStyle/>
          <a:p>
            <a:pPr algn="ctr">
              <a:lnSpc>
                <a:spcPct val="112000"/>
              </a:lnSpc>
            </a:pPr>
            <a:r>
              <a:rPr sz="2200" b="1" i="0">
                <a:solidFill>
                  <a:srgbClr val="E1962E"/>
                </a:solidFill>
                <a:latin typeface="Cambria"/>
              </a:rPr>
              <a:t>05</a:t>
            </a:r>
          </a:p>
        </p:txBody>
      </p:sp>
      <p:sp>
        <p:nvSpPr>
          <p:cNvPr id="13" name="TextBox 12"/>
          <p:cNvSpPr txBox="1"/>
          <p:nvPr/>
        </p:nvSpPr>
        <p:spPr>
          <a:xfrm>
            <a:off x="9824466" y="2423160"/>
            <a:ext cx="1681429" cy="365760"/>
          </a:xfrm>
          <a:prstGeom prst="rect">
            <a:avLst/>
          </a:prstGeom>
          <a:noFill/>
        </p:spPr>
        <p:txBody>
          <a:bodyPr wrap="square" anchor="t" lIns="0" rIns="0" tIns="0" bIns="0">
            <a:spAutoFit/>
          </a:bodyPr>
          <a:lstStyle/>
          <a:p>
            <a:pPr algn="ctr">
              <a:lnSpc>
                <a:spcPct val="112000"/>
              </a:lnSpc>
            </a:pPr>
            <a:r>
              <a:rPr sz="1250" b="0" i="0">
                <a:solidFill>
                  <a:srgbClr val="C9D3E0"/>
                </a:solidFill>
                <a:latin typeface="Calibri"/>
              </a:rPr>
              <a:t>Categórica</a:t>
            </a:r>
          </a:p>
        </p:txBody>
      </p:sp>
      <p:sp>
        <p:nvSpPr>
          <p:cNvPr id="14" name="Rectangle 13"/>
          <p:cNvSpPr/>
          <p:nvPr/>
        </p:nvSpPr>
        <p:spPr>
          <a:xfrm>
            <a:off x="685800" y="2880360"/>
            <a:ext cx="10820095" cy="15240"/>
          </a:xfrm>
          <a:prstGeom prst="rect">
            <a:avLst/>
          </a:prstGeom>
          <a:solidFill>
            <a:srgbClr val="2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246120"/>
            <a:ext cx="10820095" cy="1965960"/>
          </a:xfrm>
          <a:prstGeom prst="rect">
            <a:avLst/>
          </a:prstGeom>
          <a:noFill/>
        </p:spPr>
        <p:txBody>
          <a:bodyPr wrap="square" anchor="t" lIns="0" rIns="0" tIns="0" bIns="0">
            <a:spAutoFit/>
          </a:bodyPr>
          <a:lstStyle/>
          <a:p>
            <a:pPr algn="l">
              <a:lnSpc>
                <a:spcPct val="130000"/>
              </a:lnSpc>
            </a:pPr>
            <a:r>
              <a:rPr sz="2500" b="0" i="1">
                <a:solidFill>
                  <a:srgbClr val="FFFFFF"/>
                </a:solidFill>
                <a:latin typeface="Cambria"/>
              </a:rPr>
              <a:t>La estadística no es una fórmula suelta: es una cadena de preguntas — ¿hay relación?, ¿es real?, ¿qué variable pesa?, ¿el modelo es estable?, ¿cómo entran las categorías? — y cada una necesita su propia evidencia.</a:t>
            </a:r>
          </a:p>
        </p:txBody>
      </p:sp>
      <p:sp>
        <p:nvSpPr>
          <p:cNvPr id="16" name="TextBox 15"/>
          <p:cNvSpPr txBox="1"/>
          <p:nvPr/>
        </p:nvSpPr>
        <p:spPr>
          <a:xfrm>
            <a:off x="685800" y="5806440"/>
            <a:ext cx="8064779" cy="365760"/>
          </a:xfrm>
          <a:prstGeom prst="rect">
            <a:avLst/>
          </a:prstGeom>
          <a:noFill/>
        </p:spPr>
        <p:txBody>
          <a:bodyPr wrap="square" anchor="t" lIns="0" rIns="0" tIns="0" bIns="0">
            <a:spAutoFit/>
          </a:bodyPr>
          <a:lstStyle/>
          <a:p>
            <a:pPr algn="l">
              <a:lnSpc>
                <a:spcPct val="112000"/>
              </a:lnSpc>
            </a:pPr>
            <a:r>
              <a:rPr sz="1050" b="0" i="1">
                <a:solidFill>
                  <a:srgbClr val="8B96A8"/>
                </a:solidFill>
                <a:latin typeface="Calibri"/>
              </a:rPr>
              <a:t>James, G., Witten, D., Hastie, T., Tibshirani, R., Taylor, J. (2023). An Introduction to Statistical Learning with Applications in Python. Springer.</a:t>
            </a:r>
          </a:p>
        </p:txBody>
      </p:sp>
      <p:sp>
        <p:nvSpPr>
          <p:cNvPr id="17" name="TextBox 16"/>
          <p:cNvSpPr txBox="1"/>
          <p:nvPr/>
        </p:nvSpPr>
        <p:spPr>
          <a:xfrm>
            <a:off x="9227279" y="5806440"/>
            <a:ext cx="2278616" cy="365760"/>
          </a:xfrm>
          <a:prstGeom prst="rect">
            <a:avLst/>
          </a:prstGeom>
          <a:noFill/>
        </p:spPr>
        <p:txBody>
          <a:bodyPr wrap="square" anchor="t" lIns="0" rIns="0" tIns="0" bIns="0">
            <a:spAutoFit/>
          </a:bodyPr>
          <a:lstStyle/>
          <a:p>
            <a:pPr algn="r">
              <a:lnSpc>
                <a:spcPct val="112000"/>
              </a:lnSpc>
            </a:pPr>
            <a:r>
              <a:rPr sz="1300" b="1" i="0">
                <a:solidFill>
                  <a:srgbClr val="C9D3E0"/>
                </a:solidFill>
                <a:latin typeface="Calibri"/>
              </a:rPr>
              <a:t>¿Preguntas?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